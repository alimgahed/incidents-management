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63" r:id="rId4"/>
    <p:sldId id="257" r:id="rId5"/>
    <p:sldId id="258" r:id="rId6"/>
    <p:sldId id="259" r:id="rId7"/>
    <p:sldId id="260" r:id="rId8"/>
    <p:sldId id="261" r:id="rId9"/>
    <p:sldId id="262" r:id="rId10"/>
    <p:sldId id="265" r:id="rIdHealthcareMobile"/>
  </p:sldIdLst>
  <p:sldSz cx="18097500" cy="762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5"/>
    <p:restoredTop sz="94651"/>
  </p:normalViewPr>
  <p:slideViewPr>
    <p:cSldViewPr snapToGrid="0" snapToObjects="1">
      <p:cViewPr>
        <p:scale>
          <a:sx n="58" d="100"/>
          <a:sy n="58" d="100"/>
        </p:scale>
        <p:origin x="2368" y="18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Relationship Id="rIdHealthcareMobile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MobileOnlyCover" Type="http://schemas.openxmlformats.org/officeDocument/2006/relationships/image" Target="../media/mobile_only_cover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1.png"/><Relationship Id="rId3" Type="http://schemas.openxmlformats.org/officeDocument/2006/relationships/image" Target="../media/image4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51.png"/><Relationship Id="rId2" Type="http://schemas.openxmlformats.org/officeDocument/2006/relationships/image" Target="../media/image39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48.png"/><Relationship Id="rId10" Type="http://schemas.openxmlformats.org/officeDocument/2006/relationships/image" Target="../media/image57.png"/><Relationship Id="rId4" Type="http://schemas.openxmlformats.org/officeDocument/2006/relationships/image" Target="../media/image41.png"/><Relationship Id="rId9" Type="http://schemas.openxmlformats.org/officeDocument/2006/relationships/image" Target="../media/image56.png"/><Relationship Id="rId14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40.png"/><Relationship Id="rId7" Type="http://schemas.openxmlformats.org/officeDocument/2006/relationships/image" Target="../media/image64.png"/><Relationship Id="rId12" Type="http://schemas.openxmlformats.org/officeDocument/2006/relationships/image" Target="../media/image5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49.png"/><Relationship Id="rId5" Type="http://schemas.openxmlformats.org/officeDocument/2006/relationships/image" Target="../media/image62.png"/><Relationship Id="rId10" Type="http://schemas.openxmlformats.org/officeDocument/2006/relationships/image" Target="../media/image48.png"/><Relationship Id="rId4" Type="http://schemas.openxmlformats.org/officeDocument/2006/relationships/image" Target="../media/image41.png"/><Relationship Id="rId9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40.png"/><Relationship Id="rId7" Type="http://schemas.openxmlformats.org/officeDocument/2006/relationships/image" Target="../media/image68.png"/><Relationship Id="rId12" Type="http://schemas.openxmlformats.org/officeDocument/2006/relationships/image" Target="../media/image5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49.png"/><Relationship Id="rId5" Type="http://schemas.openxmlformats.org/officeDocument/2006/relationships/image" Target="../media/image66.png"/><Relationship Id="rId10" Type="http://schemas.openxmlformats.org/officeDocument/2006/relationships/image" Target="../media/image48.png"/><Relationship Id="rId4" Type="http://schemas.openxmlformats.org/officeDocument/2006/relationships/image" Target="../media/image41.png"/><Relationship Id="rId9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0.png"/><Relationship Id="rId7" Type="http://schemas.openxmlformats.org/officeDocument/2006/relationships/image" Target="../media/image7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11" Type="http://schemas.openxmlformats.org/officeDocument/2006/relationships/image" Target="../media/image51.png"/><Relationship Id="rId5" Type="http://schemas.openxmlformats.org/officeDocument/2006/relationships/image" Target="../media/image70.png"/><Relationship Id="rId10" Type="http://schemas.openxmlformats.org/officeDocument/2006/relationships/image" Target="../media/image49.png"/><Relationship Id="rId4" Type="http://schemas.openxmlformats.org/officeDocument/2006/relationships/image" Target="../media/image41.png"/><Relationship Id="rId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0.png"/><Relationship Id="rId7" Type="http://schemas.openxmlformats.org/officeDocument/2006/relationships/image" Target="../media/image48.png"/><Relationship Id="rId12" Type="http://schemas.openxmlformats.org/officeDocument/2006/relationships/image" Target="../media/image7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75.png"/><Relationship Id="rId5" Type="http://schemas.openxmlformats.org/officeDocument/2006/relationships/image" Target="../media/image73.png"/><Relationship Id="rId10" Type="http://schemas.openxmlformats.org/officeDocument/2006/relationships/image" Target="../media/image74.png"/><Relationship Id="rId4" Type="http://schemas.openxmlformats.org/officeDocument/2006/relationships/image" Target="../media/image41.png"/><Relationship Id="rId9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0.png"/><Relationship Id="rId7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79.png"/><Relationship Id="rId5" Type="http://schemas.openxmlformats.org/officeDocument/2006/relationships/image" Target="../media/image47.png"/><Relationship Id="rId10" Type="http://schemas.openxmlformats.org/officeDocument/2006/relationships/image" Target="../media/image78.png"/><Relationship Id="rId4" Type="http://schemas.openxmlformats.org/officeDocument/2006/relationships/image" Target="../media/image41.png"/><Relationship Id="rId9" Type="http://schemas.openxmlformats.org/officeDocument/2006/relationships/image" Target="../media/image77.png"/></Relationships>
</file>

<file path=ppt/slides/_rels/slide9.xml.rels><?xml version='1.0' encoding='UTF-8'?>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0.png"/><Relationship Id="rId7" Type="http://schemas.openxmlformats.org/officeDocument/2006/relationships/image" Target="../media/image80.png"/><Relationship Id="rId12" Type="http://schemas.openxmlformats.org/officeDocument/2006/relationships/image" Target="../media/image8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82.png"/><Relationship Id="rId5" Type="http://schemas.openxmlformats.org/officeDocument/2006/relationships/image" Target="../media/image47.png"/><Relationship Id="rId10" Type="http://schemas.openxmlformats.org/officeDocument/2006/relationships/image" Target="../media/image81.png"/><Relationship Id="rId4" Type="http://schemas.openxmlformats.org/officeDocument/2006/relationships/image" Target="../media/image41.png"/><Relationship Id="rId9" Type="http://schemas.openxmlformats.org/officeDocument/2006/relationships/image" Target="../media/image51.png"/></Relationships>
</file>

<file path=ppt/slides/_rels/slide10.xml.rels><?xml version='1.0' encoding='UTF-8'?>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0.png"/><Relationship Id="rId7" Type="http://schemas.openxmlformats.org/officeDocument/2006/relationships/image" Target="../media/image80.png"/><Relationship Id="rId12" Type="http://schemas.openxmlformats.org/officeDocument/2006/relationships/image" Target="../media/image8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82.png"/><Relationship Id="rId5" Type="http://schemas.openxmlformats.org/officeDocument/2006/relationships/image" Target="../media/image47.png"/><Relationship Id="rId10" Type="http://schemas.openxmlformats.org/officeDocument/2006/relationships/image" Target="../media/image81.png"/><Relationship Id="rId4" Type="http://schemas.openxmlformats.org/officeDocument/2006/relationships/image" Target="../media/image41.png"/><Relationship Id="rId9" Type="http://schemas.openxmlformats.org/officeDocument/2006/relationships/image" Target="../media/image51.png"/><Relationship Id="rIdMobileRacc95ca8d5ae4733" Type="http://schemas.openxmlformats.org/officeDocument/2006/relationships/image" Target="../media/hc_mobile_image.png"/><Relationship Id="rIdMobileOnly0" Type="http://schemas.openxmlformats.org/officeDocument/2006/relationships/image" Target="../media/mobile_only_image.png"/><Relationship Id="rIdMobileOnly1" Type="http://schemas.openxmlformats.org/officeDocument/2006/relationships/image" Target="../media/mobile_only_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0" descr="img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006"/>
            <a:ext cx="18088205" cy="7510416"/>
          </a:xfrm>
          <a:prstGeom prst="rect">
            <a:avLst/>
          </a:prstGeom>
        </p:spPr>
      </p:pic>
      <p:pic>
        <p:nvPicPr>
          <p:cNvPr id="3" name="Image 01" descr="img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577"/>
            <a:ext cx="18097500" cy="7510845"/>
          </a:xfrm>
          <a:prstGeom prst="rect">
            <a:avLst/>
          </a:prstGeom>
        </p:spPr>
      </p:pic>
      <p:pic>
        <p:nvPicPr>
          <p:cNvPr id="4" name="Image 02" descr="img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6509" y="1477150"/>
            <a:ext cx="6422894" cy="5075108"/>
          </a:xfrm>
          <a:prstGeom prst="rect">
            <a:avLst/>
          </a:prstGeom>
        </p:spPr>
      </p:pic>
      <p:pic>
        <p:nvPicPr>
          <p:cNvPr id="5" name="Image 03" descr="img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255" y="55006"/>
            <a:ext cx="7631252" cy="1747473"/>
          </a:xfrm>
          <a:prstGeom prst="rect">
            <a:avLst/>
          </a:prstGeom>
        </p:spPr>
      </p:pic>
      <p:pic>
        <p:nvPicPr>
          <p:cNvPr id="6" name="Image 05" descr="img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0871" y="-21162"/>
            <a:ext cx="7287334" cy="2427820"/>
          </a:xfrm>
          <a:prstGeom prst="rect">
            <a:avLst/>
          </a:prstGeom>
        </p:spPr>
      </p:pic>
      <p:sp>
        <p:nvSpPr>
          <p:cNvPr id="7" name="Text: Connected care. Intelligence a"/>
          <p:cNvSpPr txBox="1"/>
          <p:nvPr/>
        </p:nvSpPr>
        <p:spPr>
          <a:xfrm>
            <a:off x="4550224" y="743239"/>
            <a:ext cx="8040234" cy="4112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672" b="1" dirty="0">
                <a:solidFill>
                  <a:srgbClr val="0D2947"/>
                </a:solidFill>
                <a:latin typeface="Dubai"/>
                <a:cs typeface="Dubai"/>
              </a:rPr>
              <a:t>Connected care. Intelligence at every step</a:t>
            </a:r>
          </a:p>
        </p:txBody>
      </p:sp>
      <p:sp>
        <p:nvSpPr>
          <p:cNvPr id="8" name="Text: Healthier people. Stronger com"/>
          <p:cNvSpPr txBox="1"/>
          <p:nvPr/>
        </p:nvSpPr>
        <p:spPr>
          <a:xfrm>
            <a:off x="5233125" y="1243808"/>
            <a:ext cx="7333810" cy="2740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781" dirty="0">
                <a:solidFill>
                  <a:srgbClr val="0D2947"/>
                </a:solidFill>
                <a:latin typeface="Dubai Medium"/>
                <a:cs typeface="Dubai Medium"/>
              </a:rPr>
              <a:t>Healthier people. Stronger communities. A brighter future</a:t>
            </a:r>
          </a:p>
        </p:txBody>
      </p:sp>
      <p:pic>
        <p:nvPicPr>
          <p:cNvPr id="9" name="Image 08" descr="img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7179" y="-21162"/>
            <a:ext cx="4814846" cy="1784654"/>
          </a:xfrm>
          <a:prstGeom prst="rect">
            <a:avLst/>
          </a:prstGeom>
        </p:spPr>
      </p:pic>
      <p:pic>
        <p:nvPicPr>
          <p:cNvPr id="10" name="Image 10" descr="img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1563" y="2062740"/>
            <a:ext cx="4415158" cy="3587896"/>
          </a:xfrm>
          <a:prstGeom prst="rect">
            <a:avLst/>
          </a:prstGeom>
        </p:spPr>
      </p:pic>
      <p:pic>
        <p:nvPicPr>
          <p:cNvPr id="11" name="Image 11" descr="img1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6187" y="5055751"/>
            <a:ext cx="2946536" cy="957392"/>
          </a:xfrm>
          <a:prstGeom prst="rect">
            <a:avLst/>
          </a:prstGeom>
        </p:spPr>
      </p:pic>
      <p:pic>
        <p:nvPicPr>
          <p:cNvPr id="12" name="Image 13" descr="img1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4272" y="4934916"/>
            <a:ext cx="2890767" cy="1087523"/>
          </a:xfrm>
          <a:prstGeom prst="rect">
            <a:avLst/>
          </a:prstGeom>
        </p:spPr>
      </p:pic>
      <p:pic>
        <p:nvPicPr>
          <p:cNvPr id="13" name="Image 14" descr="img1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3568" y="3838099"/>
            <a:ext cx="2807110" cy="1050342"/>
          </a:xfrm>
          <a:prstGeom prst="rect">
            <a:avLst/>
          </a:prstGeom>
        </p:spPr>
      </p:pic>
      <p:pic>
        <p:nvPicPr>
          <p:cNvPr id="14" name="Image 15" descr="img1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4272" y="2731985"/>
            <a:ext cx="2825701" cy="1059637"/>
          </a:xfrm>
          <a:prstGeom prst="rect">
            <a:avLst/>
          </a:prstGeom>
        </p:spPr>
      </p:pic>
      <p:pic>
        <p:nvPicPr>
          <p:cNvPr id="15" name="Image 16" descr="img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72863" y="1570101"/>
            <a:ext cx="2965127" cy="1180474"/>
          </a:xfrm>
          <a:prstGeom prst="rect">
            <a:avLst/>
          </a:prstGeom>
        </p:spPr>
      </p:pic>
      <p:pic>
        <p:nvPicPr>
          <p:cNvPr id="16" name="Image 17" descr="img1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198299"/>
            <a:ext cx="4749780" cy="3141733"/>
          </a:xfrm>
          <a:prstGeom prst="rect">
            <a:avLst/>
          </a:prstGeom>
        </p:spPr>
      </p:pic>
      <p:sp>
        <p:nvSpPr>
          <p:cNvPr id="17" name="Text: Patient 360"/>
          <p:cNvSpPr txBox="1"/>
          <p:nvPr/>
        </p:nvSpPr>
        <p:spPr>
          <a:xfrm>
            <a:off x="650655" y="1716576"/>
            <a:ext cx="1635933" cy="2740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781" b="1">
                <a:solidFill>
                  <a:srgbClr val="0D2947"/>
                </a:solidFill>
                <a:latin typeface="Dubai"/>
                <a:cs typeface="Dubai"/>
              </a:rPr>
              <a:t>Patient 360</a:t>
            </a:r>
          </a:p>
        </p:txBody>
      </p:sp>
      <p:sp>
        <p:nvSpPr>
          <p:cNvPr id="19" name="Text: Health Risk Prediction"/>
          <p:cNvSpPr txBox="1"/>
          <p:nvPr/>
        </p:nvSpPr>
        <p:spPr>
          <a:xfrm>
            <a:off x="5893075" y="1831911"/>
            <a:ext cx="2035620" cy="1828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188" b="1">
                <a:solidFill>
                  <a:srgbClr val="0D2947"/>
                </a:solidFill>
                <a:latin typeface="Dubai"/>
                <a:cs typeface="Dubai"/>
              </a:rPr>
              <a:t>Health Risk Prediction</a:t>
            </a:r>
          </a:p>
        </p:txBody>
      </p:sp>
      <p:sp>
        <p:nvSpPr>
          <p:cNvPr id="20" name="Text: Dispensing Eligibility"/>
          <p:cNvSpPr txBox="1"/>
          <p:nvPr/>
        </p:nvSpPr>
        <p:spPr>
          <a:xfrm>
            <a:off x="5893074" y="2933377"/>
            <a:ext cx="1942670" cy="1828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188" b="1">
                <a:solidFill>
                  <a:srgbClr val="0D2947"/>
                </a:solidFill>
                <a:latin typeface="Dubai"/>
                <a:cs typeface="Dubai"/>
              </a:rPr>
              <a:t>Dispensing Eligibility</a:t>
            </a:r>
          </a:p>
        </p:txBody>
      </p:sp>
      <p:sp>
        <p:nvSpPr>
          <p:cNvPr id="21" name="Text: Intelligence that"/>
          <p:cNvSpPr txBox="1"/>
          <p:nvPr/>
        </p:nvSpPr>
        <p:spPr>
          <a:xfrm>
            <a:off x="8263318" y="4087988"/>
            <a:ext cx="1700997" cy="411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6" b="1">
                <a:solidFill>
                  <a:srgbClr val="FFFFFF"/>
                </a:solidFill>
                <a:latin typeface="Dubai"/>
                <a:cs typeface="Dubai"/>
              </a:rPr>
              <a:t>Intelligence that</a:t>
            </a:r>
          </a:p>
          <a:p>
            <a:pPr algn="ctr"/>
            <a:r>
              <a:rPr lang="en-US" sz="1336" b="1">
                <a:solidFill>
                  <a:srgbClr val="FFFFFF"/>
                </a:solidFill>
                <a:latin typeface="Dubai"/>
                <a:cs typeface="Dubai"/>
              </a:rPr>
              <a:t>supports care</a:t>
            </a:r>
          </a:p>
        </p:txBody>
      </p:sp>
      <p:sp>
        <p:nvSpPr>
          <p:cNvPr id="22" name="Text: Clinical decisions approved"/>
          <p:cNvSpPr txBox="1"/>
          <p:nvPr/>
        </p:nvSpPr>
        <p:spPr>
          <a:xfrm>
            <a:off x="7761384" y="5370708"/>
            <a:ext cx="2714160" cy="411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36" b="1">
                <a:solidFill>
                  <a:srgbClr val="FFFFFF"/>
                </a:solidFill>
                <a:latin typeface="Dubai"/>
                <a:cs typeface="Dubai"/>
              </a:rPr>
              <a:t>Clinical decisions approved</a:t>
            </a:r>
          </a:p>
          <a:p>
            <a:pPr algn="ctr"/>
            <a:r>
              <a:rPr lang="en-US" sz="1336" b="1">
                <a:solidFill>
                  <a:srgbClr val="FFFFFF"/>
                </a:solidFill>
                <a:latin typeface="Dubai"/>
                <a:cs typeface="Dubai"/>
              </a:rPr>
              <a:t>by professionals</a:t>
            </a:r>
          </a:p>
        </p:txBody>
      </p:sp>
      <p:sp>
        <p:nvSpPr>
          <p:cNvPr id="23" name="Text: Demand &amp; Stock Forecasting"/>
          <p:cNvSpPr txBox="1"/>
          <p:nvPr/>
        </p:nvSpPr>
        <p:spPr>
          <a:xfrm>
            <a:off x="5874482" y="3937281"/>
            <a:ext cx="1784655" cy="3656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188" b="1" dirty="0">
                <a:solidFill>
                  <a:srgbClr val="0D2947"/>
                </a:solidFill>
                <a:latin typeface="Dubai"/>
                <a:cs typeface="Dubai"/>
              </a:rPr>
              <a:t>Demand &amp; Stock Forecasting</a:t>
            </a:r>
          </a:p>
        </p:txBody>
      </p:sp>
      <p:sp>
        <p:nvSpPr>
          <p:cNvPr id="24" name="Text: Clinical Records Assistant"/>
          <p:cNvSpPr txBox="1"/>
          <p:nvPr/>
        </p:nvSpPr>
        <p:spPr>
          <a:xfrm>
            <a:off x="5586338" y="5113070"/>
            <a:ext cx="2342357" cy="1828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188" b="1">
                <a:solidFill>
                  <a:srgbClr val="0D2947"/>
                </a:solidFill>
                <a:latin typeface="Dubai"/>
                <a:cs typeface="Dubai"/>
              </a:rPr>
              <a:t>Clinical Records Assistant</a:t>
            </a:r>
          </a:p>
        </p:txBody>
      </p:sp>
      <p:sp>
        <p:nvSpPr>
          <p:cNvPr id="26" name="Text: Anticipate shortages and plan"/>
          <p:cNvSpPr txBox="1"/>
          <p:nvPr/>
        </p:nvSpPr>
        <p:spPr>
          <a:xfrm>
            <a:off x="5948844" y="4301299"/>
            <a:ext cx="1682407" cy="3656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88" dirty="0">
                <a:solidFill>
                  <a:srgbClr val="0D2947"/>
                </a:solidFill>
                <a:latin typeface="Dubai Medium"/>
                <a:cs typeface="Dubai Medium"/>
              </a:rPr>
              <a:t>Anticipate shortages and plan supply</a:t>
            </a:r>
          </a:p>
        </p:txBody>
      </p:sp>
      <p:sp>
        <p:nvSpPr>
          <p:cNvPr id="27" name="Text: Summarize records and support"/>
          <p:cNvSpPr txBox="1"/>
          <p:nvPr/>
        </p:nvSpPr>
        <p:spPr>
          <a:xfrm>
            <a:off x="5948844" y="5400365"/>
            <a:ext cx="1570868" cy="342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13" dirty="0">
                <a:solidFill>
                  <a:srgbClr val="0D2947"/>
                </a:solidFill>
                <a:latin typeface="Dubai Medium"/>
                <a:cs typeface="Dubai Medium"/>
              </a:rPr>
              <a:t>Summarize records and support decisions</a:t>
            </a:r>
          </a:p>
        </p:txBody>
      </p:sp>
      <p:pic>
        <p:nvPicPr>
          <p:cNvPr id="29" name="Image 30" descr="img3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2982953"/>
            <a:ext cx="5028632" cy="2305176"/>
          </a:xfrm>
          <a:prstGeom prst="rect">
            <a:avLst/>
          </a:prstGeom>
        </p:spPr>
      </p:pic>
      <p:pic>
        <p:nvPicPr>
          <p:cNvPr id="30" name="Image 31" descr="img3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4758309"/>
            <a:ext cx="4786961" cy="2593325"/>
          </a:xfrm>
          <a:prstGeom prst="rect">
            <a:avLst/>
          </a:prstGeom>
        </p:spPr>
      </p:pic>
      <p:pic>
        <p:nvPicPr>
          <p:cNvPr id="31" name="Image 32" descr="img3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4972096"/>
            <a:ext cx="4433748" cy="2593325"/>
          </a:xfrm>
          <a:prstGeom prst="rect">
            <a:avLst/>
          </a:prstGeom>
        </p:spPr>
      </p:pic>
      <p:pic>
        <p:nvPicPr>
          <p:cNvPr id="32" name="Image 33" descr="img3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6607" y="4871363"/>
            <a:ext cx="14816341" cy="2694060"/>
          </a:xfrm>
          <a:prstGeom prst="rect">
            <a:avLst/>
          </a:prstGeom>
        </p:spPr>
      </p:pic>
      <p:pic>
        <p:nvPicPr>
          <p:cNvPr id="33" name="Image 34" descr="img3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544476" y="6384947"/>
            <a:ext cx="734310" cy="678540"/>
          </a:xfrm>
          <a:prstGeom prst="rect">
            <a:avLst/>
          </a:prstGeom>
        </p:spPr>
      </p:pic>
      <p:pic>
        <p:nvPicPr>
          <p:cNvPr id="34" name="Image 35" descr="img3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20085" y="6384947"/>
            <a:ext cx="678540" cy="669245"/>
          </a:xfrm>
          <a:prstGeom prst="rect">
            <a:avLst/>
          </a:prstGeom>
        </p:spPr>
      </p:pic>
      <p:pic>
        <p:nvPicPr>
          <p:cNvPr id="35" name="Image 36" descr="img36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72299" y="6384947"/>
            <a:ext cx="706426" cy="669245"/>
          </a:xfrm>
          <a:prstGeom prst="rect">
            <a:avLst/>
          </a:prstGeom>
        </p:spPr>
      </p:pic>
      <p:pic>
        <p:nvPicPr>
          <p:cNvPr id="36" name="Image 37" descr="img3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50154" y="6384947"/>
            <a:ext cx="743605" cy="687836"/>
          </a:xfrm>
          <a:prstGeom prst="rect">
            <a:avLst/>
          </a:prstGeom>
        </p:spPr>
      </p:pic>
      <p:pic>
        <p:nvPicPr>
          <p:cNvPr id="37" name="Image 38" descr="img38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90829" y="6375652"/>
            <a:ext cx="697131" cy="697131"/>
          </a:xfrm>
          <a:prstGeom prst="rect">
            <a:avLst/>
          </a:prstGeom>
        </p:spPr>
      </p:pic>
      <p:pic>
        <p:nvPicPr>
          <p:cNvPr id="38" name="Image 39" descr="img39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68493" y="4962802"/>
            <a:ext cx="2825701" cy="1087523"/>
          </a:xfrm>
          <a:prstGeom prst="rect">
            <a:avLst/>
          </a:prstGeom>
        </p:spPr>
      </p:pic>
      <p:pic>
        <p:nvPicPr>
          <p:cNvPr id="39" name="Image 40" descr="img40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12725" y="3782329"/>
            <a:ext cx="2946536" cy="1115408"/>
          </a:xfrm>
          <a:prstGeom prst="rect">
            <a:avLst/>
          </a:prstGeom>
        </p:spPr>
      </p:pic>
      <p:pic>
        <p:nvPicPr>
          <p:cNvPr id="40" name="Image 41" descr="img41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94133" y="2769166"/>
            <a:ext cx="2927948" cy="1041047"/>
          </a:xfrm>
          <a:prstGeom prst="rect">
            <a:avLst/>
          </a:prstGeom>
        </p:spPr>
      </p:pic>
      <p:pic>
        <p:nvPicPr>
          <p:cNvPr id="41" name="Image 42" descr="img42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68807" y="1570101"/>
            <a:ext cx="3048783" cy="1254834"/>
          </a:xfrm>
          <a:prstGeom prst="rect">
            <a:avLst/>
          </a:prstGeom>
        </p:spPr>
      </p:pic>
      <p:pic>
        <p:nvPicPr>
          <p:cNvPr id="42" name="Image 43" descr="Healthcare mobile application concept"/>
          <p:cNvPicPr>
            <a:picLocks noChangeAspect="1"/>
          </p:cNvPicPr>
          <p:nvPr/>
        </p:nvPicPr>
        <p:blipFill>
          <a:blip r:embed="rIdMobileOnlyCover"/>
          <a:stretch>
            <a:fillRect/>
          </a:stretch>
        </p:blipFill>
        <p:spPr>
          <a:xfrm>
            <a:off x="14763750" y="6429375"/>
            <a:ext cx="876300" cy="1095375"/>
          </a:xfrm>
          <a:prstGeom prst="rect">
            <a:avLst/>
          </a:prstGeom>
        </p:spPr>
      </p:pic>
      <p:pic>
        <p:nvPicPr>
          <p:cNvPr id="43" name="Image 44" descr="img44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580096" y="4860557"/>
            <a:ext cx="4508109" cy="1673112"/>
          </a:xfrm>
          <a:prstGeom prst="rect">
            <a:avLst/>
          </a:prstGeom>
        </p:spPr>
      </p:pic>
      <p:pic>
        <p:nvPicPr>
          <p:cNvPr id="44" name="Image 45" descr="img45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561508" y="2573969"/>
            <a:ext cx="4526698" cy="3959699"/>
          </a:xfrm>
          <a:prstGeom prst="rect">
            <a:avLst/>
          </a:prstGeom>
        </p:spPr>
      </p:pic>
      <p:pic>
        <p:nvPicPr>
          <p:cNvPr id="45" name="Image 46" descr="img46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3412786" y="1421380"/>
            <a:ext cx="4675421" cy="1914784"/>
          </a:xfrm>
          <a:prstGeom prst="rect">
            <a:avLst/>
          </a:prstGeom>
        </p:spPr>
      </p:pic>
      <p:sp>
        <p:nvSpPr>
          <p:cNvPr id="46" name="Text: Clinical Care &amp; Clinics"/>
          <p:cNvSpPr txBox="1"/>
          <p:nvPr/>
        </p:nvSpPr>
        <p:spPr>
          <a:xfrm>
            <a:off x="641361" y="3371747"/>
            <a:ext cx="2342357" cy="2169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10" b="1">
                <a:solidFill>
                  <a:srgbClr val="0D2947"/>
                </a:solidFill>
                <a:latin typeface="Dubai"/>
                <a:cs typeface="Dubai"/>
              </a:rPr>
              <a:t>Clinical Care &amp; Clinics</a:t>
            </a:r>
          </a:p>
        </p:txBody>
      </p:sp>
      <p:sp>
        <p:nvSpPr>
          <p:cNvPr id="47" name="Text: Pharmacy &amp; Safe Dispensing"/>
          <p:cNvSpPr txBox="1"/>
          <p:nvPr/>
        </p:nvSpPr>
        <p:spPr>
          <a:xfrm>
            <a:off x="641360" y="5058424"/>
            <a:ext cx="2500373" cy="171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13" b="1">
                <a:solidFill>
                  <a:srgbClr val="0D2947"/>
                </a:solidFill>
                <a:latin typeface="Dubai"/>
                <a:cs typeface="Dubai"/>
              </a:rPr>
              <a:t>Pharmacy &amp; Safe Dispensing</a:t>
            </a:r>
          </a:p>
        </p:txBody>
      </p:sp>
      <p:sp>
        <p:nvSpPr>
          <p:cNvPr id="48" name="Text: Unified Health Data Platform"/>
          <p:cNvSpPr txBox="1"/>
          <p:nvPr/>
        </p:nvSpPr>
        <p:spPr>
          <a:xfrm>
            <a:off x="1840424" y="6594954"/>
            <a:ext cx="3392701" cy="2399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559" b="1">
                <a:solidFill>
                  <a:srgbClr val="0D2947"/>
                </a:solidFill>
                <a:latin typeface="Dubai"/>
                <a:cs typeface="Dubai"/>
              </a:rPr>
              <a:t>Unified Health Data Platform</a:t>
            </a:r>
          </a:p>
        </p:txBody>
      </p:sp>
      <p:sp>
        <p:nvSpPr>
          <p:cNvPr id="49" name="Text: Patient"/>
          <p:cNvSpPr txBox="1"/>
          <p:nvPr/>
        </p:nvSpPr>
        <p:spPr>
          <a:xfrm>
            <a:off x="5554318" y="7041117"/>
            <a:ext cx="1115408" cy="2399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559" b="1" dirty="0">
                <a:solidFill>
                  <a:srgbClr val="0D2947"/>
                </a:solidFill>
                <a:latin typeface="Dubai"/>
                <a:cs typeface="Dubai"/>
              </a:rPr>
              <a:t>Patient</a:t>
            </a:r>
          </a:p>
        </p:txBody>
      </p:sp>
      <p:sp>
        <p:nvSpPr>
          <p:cNvPr id="50" name="Text: Pharmacist"/>
          <p:cNvSpPr txBox="1"/>
          <p:nvPr/>
        </p:nvSpPr>
        <p:spPr>
          <a:xfrm>
            <a:off x="6864923" y="7041117"/>
            <a:ext cx="1450031" cy="2399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559" b="1">
                <a:solidFill>
                  <a:srgbClr val="0D2947"/>
                </a:solidFill>
                <a:latin typeface="Dubai"/>
                <a:cs typeface="Dubai"/>
              </a:rPr>
              <a:t>Pharmacist</a:t>
            </a:r>
          </a:p>
        </p:txBody>
      </p:sp>
      <p:sp>
        <p:nvSpPr>
          <p:cNvPr id="51" name="Text: Reviewer"/>
          <p:cNvSpPr txBox="1"/>
          <p:nvPr/>
        </p:nvSpPr>
        <p:spPr>
          <a:xfrm>
            <a:off x="8352133" y="7022527"/>
            <a:ext cx="1264129" cy="2399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559" b="1">
                <a:solidFill>
                  <a:srgbClr val="0D2947"/>
                </a:solidFill>
                <a:latin typeface="Dubai"/>
                <a:cs typeface="Dubai"/>
              </a:rPr>
              <a:t>Reviewer</a:t>
            </a:r>
          </a:p>
        </p:txBody>
      </p:sp>
      <p:sp>
        <p:nvSpPr>
          <p:cNvPr id="52" name="Text: Doctor"/>
          <p:cNvSpPr txBox="1"/>
          <p:nvPr/>
        </p:nvSpPr>
        <p:spPr>
          <a:xfrm>
            <a:off x="9839345" y="7027175"/>
            <a:ext cx="1087523" cy="2399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559" b="1">
                <a:solidFill>
                  <a:srgbClr val="0D2947"/>
                </a:solidFill>
                <a:latin typeface="Dubai"/>
                <a:cs typeface="Dubai"/>
              </a:rPr>
              <a:t>Doctor</a:t>
            </a:r>
          </a:p>
        </p:txBody>
      </p:sp>
      <p:sp>
        <p:nvSpPr>
          <p:cNvPr id="53" name="Text: Product vision: current capabi"/>
          <p:cNvSpPr txBox="1"/>
          <p:nvPr/>
        </p:nvSpPr>
        <p:spPr>
          <a:xfrm>
            <a:off x="6069682" y="7341389"/>
            <a:ext cx="8151776" cy="159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39">
                <a:solidFill>
                  <a:srgbClr val="0D2947"/>
                </a:solidFill>
                <a:latin typeface="Dubai"/>
                <a:cs typeface="Dubai"/>
              </a:rPr>
              <a:t>Product vision: current capabilities and future integrations • Medical decisions remain with qualified professionals</a:t>
            </a:r>
          </a:p>
        </p:txBody>
      </p:sp>
      <p:sp>
        <p:nvSpPr>
          <p:cNvPr id="54" name="Text: Administrator"/>
          <p:cNvSpPr txBox="1"/>
          <p:nvPr/>
        </p:nvSpPr>
        <p:spPr>
          <a:xfrm>
            <a:off x="11159245" y="7031822"/>
            <a:ext cx="1728883" cy="2399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559" b="1">
                <a:solidFill>
                  <a:srgbClr val="0D2947"/>
                </a:solidFill>
                <a:latin typeface="Dubai"/>
                <a:cs typeface="Dubai"/>
              </a:rPr>
              <a:t>Administrator</a:t>
            </a:r>
          </a:p>
        </p:txBody>
      </p:sp>
      <p:sp>
        <p:nvSpPr>
          <p:cNvPr id="57" name="Text: Connected data. Better decisio"/>
          <p:cNvSpPr txBox="1"/>
          <p:nvPr/>
        </p:nvSpPr>
        <p:spPr>
          <a:xfrm>
            <a:off x="1738178" y="6893076"/>
            <a:ext cx="2807110" cy="1828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188">
                <a:solidFill>
                  <a:srgbClr val="0D2947"/>
                </a:solidFill>
                <a:latin typeface="Dubai"/>
                <a:cs typeface="Dubai"/>
              </a:rPr>
              <a:t>Connected data. Better decisions</a:t>
            </a:r>
          </a:p>
        </p:txBody>
      </p:sp>
      <p:sp>
        <p:nvSpPr>
          <p:cNvPr id="58" name="Text: Administration &amp; Governance"/>
          <p:cNvSpPr txBox="1"/>
          <p:nvPr/>
        </p:nvSpPr>
        <p:spPr>
          <a:xfrm>
            <a:off x="14109916" y="1748255"/>
            <a:ext cx="2667685" cy="1828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88" b="1">
                <a:solidFill>
                  <a:srgbClr val="0D2947"/>
                </a:solidFill>
                <a:latin typeface="Dubai"/>
                <a:cs typeface="Dubai"/>
              </a:rPr>
              <a:t>Administration &amp; Governance</a:t>
            </a:r>
          </a:p>
        </p:txBody>
      </p:sp>
      <p:sp>
        <p:nvSpPr>
          <p:cNvPr id="59" name="Text: Care Network &amp; Inventory"/>
          <p:cNvSpPr txBox="1"/>
          <p:nvPr/>
        </p:nvSpPr>
        <p:spPr>
          <a:xfrm>
            <a:off x="14100621" y="3419282"/>
            <a:ext cx="2639799" cy="2055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36" b="1">
                <a:solidFill>
                  <a:srgbClr val="0D2947"/>
                </a:solidFill>
                <a:latin typeface="Dubai"/>
                <a:cs typeface="Dubai"/>
              </a:rPr>
              <a:t>Care Network &amp; Inventory</a:t>
            </a:r>
          </a:p>
        </p:txBody>
      </p:sp>
      <p:sp>
        <p:nvSpPr>
          <p:cNvPr id="60" name="Text: Assistant &amp; Analytics"/>
          <p:cNvSpPr txBox="1"/>
          <p:nvPr/>
        </p:nvSpPr>
        <p:spPr>
          <a:xfrm>
            <a:off x="14119210" y="5148165"/>
            <a:ext cx="2193636" cy="2055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36" b="1">
                <a:solidFill>
                  <a:srgbClr val="0D2947"/>
                </a:solidFill>
                <a:latin typeface="Dubai"/>
                <a:cs typeface="Dubai"/>
              </a:rPr>
              <a:t>Assistant &amp; Analytics</a:t>
            </a:r>
          </a:p>
        </p:txBody>
      </p:sp>
      <p:sp>
        <p:nvSpPr>
          <p:cNvPr id="64" name="Text: Expansion Vision:"/>
          <p:cNvSpPr txBox="1"/>
          <p:nvPr/>
        </p:nvSpPr>
        <p:spPr>
          <a:xfrm>
            <a:off x="16033995" y="7001992"/>
            <a:ext cx="2667685" cy="411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36">
                <a:solidFill>
                  <a:srgbClr val="0D2947"/>
                </a:solidFill>
                <a:latin typeface="Dubai Medium"/>
                <a:cs typeface="Dubai Medium"/>
              </a:rPr>
              <a:t>Expansion Vision:</a:t>
            </a:r>
          </a:p>
          <a:p>
            <a:pPr algn="l"/>
            <a:r>
              <a:rPr lang="en-US" sz="1336">
                <a:solidFill>
                  <a:srgbClr val="0D2947"/>
                </a:solidFill>
                <a:latin typeface="Dubai Medium"/>
                <a:cs typeface="Dubai Medium"/>
              </a:rPr>
              <a:t>Patient Mobile App</a:t>
            </a:r>
          </a:p>
        </p:txBody>
      </p:sp>
      <p:sp>
        <p:nvSpPr>
          <p:cNvPr id="65" name="Text: Medical Treatment"/>
          <p:cNvSpPr txBox="1"/>
          <p:nvPr/>
        </p:nvSpPr>
        <p:spPr>
          <a:xfrm>
            <a:off x="11600247" y="1861344"/>
            <a:ext cx="1728883" cy="3656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88" b="1">
                <a:solidFill>
                  <a:srgbClr val="0D2947"/>
                </a:solidFill>
                <a:latin typeface="Dubai"/>
                <a:cs typeface="Dubai"/>
              </a:rPr>
              <a:t>Medical Treatment</a:t>
            </a:r>
          </a:p>
          <a:p>
            <a:pPr algn="l"/>
            <a:r>
              <a:rPr lang="en-US" sz="1188" b="1">
                <a:solidFill>
                  <a:srgbClr val="0D2947"/>
                </a:solidFill>
                <a:latin typeface="Dubai"/>
                <a:cs typeface="Dubai"/>
              </a:rPr>
              <a:t>Eligibility</a:t>
            </a:r>
          </a:p>
        </p:txBody>
      </p:sp>
      <p:sp>
        <p:nvSpPr>
          <p:cNvPr id="66" name="Text: Personalized Care"/>
          <p:cNvSpPr txBox="1"/>
          <p:nvPr/>
        </p:nvSpPr>
        <p:spPr>
          <a:xfrm>
            <a:off x="11507297" y="2919434"/>
            <a:ext cx="1663818" cy="1828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188" b="1">
                <a:solidFill>
                  <a:srgbClr val="0D2947"/>
                </a:solidFill>
                <a:latin typeface="Dubai"/>
                <a:cs typeface="Dubai"/>
              </a:rPr>
              <a:t>Personalised Care</a:t>
            </a:r>
          </a:p>
        </p:txBody>
      </p:sp>
      <p:sp>
        <p:nvSpPr>
          <p:cNvPr id="67" name="Text: Medication Safety"/>
          <p:cNvSpPr txBox="1"/>
          <p:nvPr/>
        </p:nvSpPr>
        <p:spPr>
          <a:xfrm>
            <a:off x="11525886" y="4030195"/>
            <a:ext cx="1691702" cy="1828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188" b="1">
                <a:solidFill>
                  <a:srgbClr val="0D2947"/>
                </a:solidFill>
                <a:latin typeface="Dubai"/>
                <a:cs typeface="Dubai"/>
              </a:rPr>
              <a:t>Medication Safety</a:t>
            </a:r>
          </a:p>
        </p:txBody>
      </p:sp>
      <p:sp>
        <p:nvSpPr>
          <p:cNvPr id="68" name="Text: Adherence Risk Prediction"/>
          <p:cNvSpPr txBox="1"/>
          <p:nvPr/>
        </p:nvSpPr>
        <p:spPr>
          <a:xfrm>
            <a:off x="11181970" y="5066595"/>
            <a:ext cx="2379538" cy="18280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188" b="1">
                <a:solidFill>
                  <a:srgbClr val="0D2947"/>
                </a:solidFill>
                <a:latin typeface="Dubai"/>
                <a:cs typeface="Dubai"/>
              </a:rPr>
              <a:t>Adherence Risk Prediction</a:t>
            </a:r>
          </a:p>
        </p:txBody>
      </p:sp>
      <p:sp>
        <p:nvSpPr>
          <p:cNvPr id="69" name="Text: Does the patient meet the"/>
          <p:cNvSpPr txBox="1"/>
          <p:nvPr/>
        </p:nvSpPr>
        <p:spPr>
          <a:xfrm>
            <a:off x="11405051" y="2233146"/>
            <a:ext cx="2305176" cy="3656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88">
                <a:solidFill>
                  <a:srgbClr val="0D2947"/>
                </a:solidFill>
                <a:latin typeface="Dubai Medium"/>
                <a:cs typeface="Dubai Medium"/>
              </a:rPr>
              <a:t>Does the patient meet the</a:t>
            </a:r>
          </a:p>
          <a:p>
            <a:pPr algn="l"/>
            <a:r>
              <a:rPr lang="en-US" sz="1188">
                <a:solidFill>
                  <a:srgbClr val="0D2947"/>
                </a:solidFill>
                <a:latin typeface="Dubai Medium"/>
                <a:cs typeface="Dubai Medium"/>
              </a:rPr>
              <a:t>medicine's criteria?</a:t>
            </a:r>
          </a:p>
        </p:txBody>
      </p:sp>
      <p:sp>
        <p:nvSpPr>
          <p:cNvPr id="71" name="Text: Flag interactions and"/>
          <p:cNvSpPr txBox="1"/>
          <p:nvPr/>
        </p:nvSpPr>
        <p:spPr>
          <a:xfrm>
            <a:off x="11721082" y="4287356"/>
            <a:ext cx="1877604" cy="3656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88">
                <a:solidFill>
                  <a:srgbClr val="0D2947"/>
                </a:solidFill>
                <a:latin typeface="Dubai Medium"/>
                <a:cs typeface="Dubai Medium"/>
              </a:rPr>
              <a:t>Flag interactions and</a:t>
            </a:r>
          </a:p>
          <a:p>
            <a:pPr algn="l"/>
            <a:r>
              <a:rPr lang="en-US" sz="1188">
                <a:solidFill>
                  <a:srgbClr val="0D2947"/>
                </a:solidFill>
                <a:latin typeface="Dubai Medium"/>
                <a:cs typeface="Dubai Medium"/>
              </a:rPr>
              <a:t>contraindications</a:t>
            </a:r>
          </a:p>
        </p:txBody>
      </p:sp>
      <p:sp>
        <p:nvSpPr>
          <p:cNvPr id="72" name="Text: Identify patients needing"/>
          <p:cNvSpPr txBox="1"/>
          <p:nvPr/>
        </p:nvSpPr>
        <p:spPr>
          <a:xfrm>
            <a:off x="11572361" y="5379528"/>
            <a:ext cx="2212226" cy="3656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88">
                <a:solidFill>
                  <a:srgbClr val="0D2947"/>
                </a:solidFill>
                <a:latin typeface="Dubai Medium"/>
                <a:cs typeface="Dubai Medium"/>
              </a:rPr>
              <a:t>Identify patients needing</a:t>
            </a:r>
          </a:p>
          <a:p>
            <a:pPr algn="l"/>
            <a:r>
              <a:rPr lang="en-US" sz="1188">
                <a:solidFill>
                  <a:srgbClr val="0D2947"/>
                </a:solidFill>
                <a:latin typeface="Dubai Medium"/>
                <a:cs typeface="Dubai Medium"/>
              </a:rPr>
              <a:t>earlier follow-up</a:t>
            </a:r>
          </a:p>
        </p:txBody>
      </p:sp>
      <p:sp>
        <p:nvSpPr>
          <p:cNvPr id="73" name="Text: Intelligence supports people. "/>
          <p:cNvSpPr txBox="1"/>
          <p:nvPr/>
        </p:nvSpPr>
        <p:spPr>
          <a:xfrm>
            <a:off x="7147908" y="5988957"/>
            <a:ext cx="4071240" cy="159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39">
                <a:solidFill>
                  <a:srgbClr val="0C2B49"/>
                </a:solidFill>
                <a:latin typeface="Dubai"/>
                <a:cs typeface="Dubai"/>
              </a:rPr>
              <a:t>Intelligence supports people. It does not replace them</a:t>
            </a:r>
          </a:p>
        </p:txBody>
      </p:sp>
      <p:sp>
        <p:nvSpPr>
          <p:cNvPr id="74" name="Text: HEALTH CARE"/>
          <p:cNvSpPr txBox="1"/>
          <p:nvPr/>
        </p:nvSpPr>
        <p:spPr>
          <a:xfrm>
            <a:off x="5767590" y="20910"/>
            <a:ext cx="6051090" cy="8567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5567" b="1" dirty="0">
                <a:solidFill>
                  <a:srgbClr val="0D2947"/>
                </a:solidFill>
                <a:latin typeface="Dubai"/>
                <a:cs typeface="Dubai"/>
              </a:rPr>
              <a:t>healthcare</a:t>
            </a:r>
          </a:p>
        </p:txBody>
      </p:sp>
      <p:sp>
        <p:nvSpPr>
          <p:cNvPr id="75" name="Text: THE INTELLIGENT CARE ECOSYSTEM"/>
          <p:cNvSpPr txBox="1"/>
          <p:nvPr/>
        </p:nvSpPr>
        <p:spPr>
          <a:xfrm>
            <a:off x="520524" y="193893"/>
            <a:ext cx="3829569" cy="2055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36" b="1">
                <a:solidFill>
                  <a:srgbClr val="FFFFFF"/>
                </a:solidFill>
                <a:latin typeface="Dubai"/>
                <a:cs typeface="Dubai"/>
              </a:rPr>
              <a:t>THE INTELLIGENT CARE ECOSYSTEM</a:t>
            </a:r>
          </a:p>
        </p:txBody>
      </p:sp>
      <p:sp>
        <p:nvSpPr>
          <p:cNvPr id="76" name="Text: Together for better health"/>
          <p:cNvSpPr txBox="1"/>
          <p:nvPr/>
        </p:nvSpPr>
        <p:spPr>
          <a:xfrm>
            <a:off x="845852" y="509925"/>
            <a:ext cx="2574735" cy="2055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36">
                <a:solidFill>
                  <a:srgbClr val="FFFFFF"/>
                </a:solidFill>
                <a:latin typeface="Dubai Medium"/>
                <a:cs typeface="Dubai Medium"/>
              </a:rPr>
              <a:t>Together for better health</a:t>
            </a:r>
          </a:p>
        </p:txBody>
      </p:sp>
      <p:pic>
        <p:nvPicPr>
          <p:cNvPr id="77" name="Image 78" descr="img78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067373" y="1765297"/>
            <a:ext cx="1003868" cy="1282720"/>
          </a:xfrm>
          <a:prstGeom prst="rect">
            <a:avLst/>
          </a:prstGeom>
        </p:spPr>
      </p:pic>
      <p:pic>
        <p:nvPicPr>
          <p:cNvPr id="78" name="Image 79" descr="img79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993013" y="3921754"/>
            <a:ext cx="483344" cy="260261"/>
          </a:xfrm>
          <a:prstGeom prst="rect">
            <a:avLst/>
          </a:prstGeom>
        </p:spPr>
      </p:pic>
      <p:pic>
        <p:nvPicPr>
          <p:cNvPr id="79" name="Image 80" descr="img80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18340" y="5613456"/>
            <a:ext cx="474049" cy="269557"/>
          </a:xfrm>
          <a:prstGeom prst="rect">
            <a:avLst/>
          </a:prstGeom>
        </p:spPr>
      </p:pic>
      <p:pic>
        <p:nvPicPr>
          <p:cNvPr id="80" name="Image 81" descr="img81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7335305" y="5790063"/>
            <a:ext cx="641360" cy="548410"/>
          </a:xfrm>
          <a:prstGeom prst="rect">
            <a:avLst/>
          </a:prstGeom>
        </p:spPr>
      </p:pic>
      <p:pic>
        <p:nvPicPr>
          <p:cNvPr id="81" name="Image 82" descr="img82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7288829" y="1904723"/>
            <a:ext cx="780786" cy="1254834"/>
          </a:xfrm>
          <a:prstGeom prst="rect">
            <a:avLst/>
          </a:prstGeom>
        </p:spPr>
      </p:pic>
      <p:pic>
        <p:nvPicPr>
          <p:cNvPr id="82" name="Image 83" descr="img83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5913160" y="3215328"/>
            <a:ext cx="2082096" cy="1542981"/>
          </a:xfrm>
          <a:prstGeom prst="rect">
            <a:avLst/>
          </a:prstGeom>
        </p:spPr>
      </p:pic>
      <p:pic>
        <p:nvPicPr>
          <p:cNvPr id="83" name="Image 85" descr="img85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4881406" y="55006"/>
            <a:ext cx="3216094" cy="2351652"/>
          </a:xfrm>
          <a:prstGeom prst="rect">
            <a:avLst/>
          </a:prstGeom>
        </p:spPr>
      </p:pic>
      <p:pic>
        <p:nvPicPr>
          <p:cNvPr id="84" name="Image 87" descr="img87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216094" y="1514331"/>
            <a:ext cx="1942670" cy="4768371"/>
          </a:xfrm>
          <a:prstGeom prst="rect">
            <a:avLst/>
          </a:prstGeom>
        </p:spPr>
      </p:pic>
      <p:sp>
        <p:nvSpPr>
          <p:cNvPr id="1002" name="company-1-18">
            <a:extLst>
              <a:ext uri="{FF2B5EF4-FFF2-40B4-BE49-F238E27FC236}">
                <a16:creationId xmlns:a16="http://schemas.microsoft.com/office/drawing/2014/main" id="{F34849E5-C263-4FA3-B417-34EB95FD8603}"/>
              </a:ext>
            </a:extLst>
          </p:cNvPr>
          <p:cNvSpPr>
            <a:spLocks noGrp="1"/>
          </p:cNvSpPr>
          <p:nvPr/>
        </p:nvSpPr>
        <p:spPr>
          <a:xfrm>
            <a:off x="247650" y="2181225"/>
            <a:ext cx="180975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Registration and records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History and allergies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Vitals, medicines and labs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Documents and visits</a:t>
            </a:r>
          </a:p>
        </p:txBody>
      </p:sp>
      <p:sp>
        <p:nvSpPr>
          <p:cNvPr id="1005" name="company-1-61">
            <a:extLst>
              <a:ext uri="{FF2B5EF4-FFF2-40B4-BE49-F238E27FC236}">
                <a16:creationId xmlns:a16="http://schemas.microsoft.com/office/drawing/2014/main" id="{D8B4CA68-06E7-4867-8064-A256BC5C6221}"/>
              </a:ext>
            </a:extLst>
          </p:cNvPr>
          <p:cNvSpPr>
            <a:spLocks noGrp="1"/>
          </p:cNvSpPr>
          <p:nvPr/>
        </p:nvSpPr>
        <p:spPr>
          <a:xfrm>
            <a:off x="13716000" y="2266950"/>
            <a:ext cx="15430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Dashboards and reports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Safety and supply alerts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Activity and audit trails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Role-based permissions</a:t>
            </a:r>
          </a:p>
        </p:txBody>
      </p:sp>
      <p:sp>
        <p:nvSpPr>
          <p:cNvPr id="1007" name="company-1-63">
            <a:extLst>
              <a:ext uri="{FF2B5EF4-FFF2-40B4-BE49-F238E27FC236}">
                <a16:creationId xmlns:a16="http://schemas.microsoft.com/office/drawing/2014/main" id="{390459D4-110C-464F-B325-90F93E931AF0}"/>
              </a:ext>
            </a:extLst>
          </p:cNvPr>
          <p:cNvSpPr>
            <a:spLocks noGrp="1"/>
          </p:cNvSpPr>
          <p:nvPr/>
        </p:nvSpPr>
        <p:spPr>
          <a:xfrm>
            <a:off x="13716000" y="5514975"/>
            <a:ext cx="1952625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Chatbot with source links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Contextual follow-up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Health and adherence trends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Demand and stock forecasts</a:t>
            </a:r>
          </a:p>
        </p:txBody>
      </p:sp>
      <p:sp>
        <p:nvSpPr>
          <p:cNvPr id="1008" name="company-1-25">
            <a:extLst>
              <a:ext uri="{FF2B5EF4-FFF2-40B4-BE49-F238E27FC236}">
                <a16:creationId xmlns:a16="http://schemas.microsoft.com/office/drawing/2014/main" id="{353B93B9-3FE3-4CCE-B0B7-2E341967C8EF}"/>
              </a:ext>
            </a:extLst>
          </p:cNvPr>
          <p:cNvSpPr>
            <a:spLocks noGrp="1"/>
          </p:cNvSpPr>
          <p:nvPr/>
        </p:nvSpPr>
        <p:spPr>
          <a:xfrm>
            <a:off x="6032183" y="2158365"/>
            <a:ext cx="1857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2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Early signals of disease</a:t>
            </a:r>
          </a:p>
          <a:p>
            <a:pPr>
              <a:defRPr sz="12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2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risk and deterioration</a:t>
            </a:r>
          </a:p>
        </p:txBody>
      </p:sp>
      <p:sp>
        <p:nvSpPr>
          <p:cNvPr id="1009" name="company-1-28">
            <a:extLst>
              <a:ext uri="{FF2B5EF4-FFF2-40B4-BE49-F238E27FC236}">
                <a16:creationId xmlns:a16="http://schemas.microsoft.com/office/drawing/2014/main" id="{D5AFC48D-2FFF-4791-A03B-03B34F7C3700}"/>
              </a:ext>
            </a:extLst>
          </p:cNvPr>
          <p:cNvSpPr>
            <a:spLocks noGrp="1"/>
          </p:cNvSpPr>
          <p:nvPr/>
        </p:nvSpPr>
        <p:spPr>
          <a:xfrm>
            <a:off x="5898833" y="3220403"/>
            <a:ext cx="18764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1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1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Last dispense and timing</a:t>
            </a:r>
          </a:p>
          <a:p>
            <a:pPr>
              <a:defRPr sz="11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1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Duplicate prevention</a:t>
            </a:r>
          </a:p>
        </p:txBody>
      </p:sp>
      <p:sp>
        <p:nvSpPr>
          <p:cNvPr id="1010" name="company-1-70">
            <a:extLst>
              <a:ext uri="{FF2B5EF4-FFF2-40B4-BE49-F238E27FC236}">
                <a16:creationId xmlns:a16="http://schemas.microsoft.com/office/drawing/2014/main" id="{6F1E86D3-BA7B-4759-B3FB-C3092C76C17A}"/>
              </a:ext>
            </a:extLst>
          </p:cNvPr>
          <p:cNvSpPr>
            <a:spLocks noGrp="1"/>
          </p:cNvSpPr>
          <p:nvPr/>
        </p:nvSpPr>
        <p:spPr>
          <a:xfrm>
            <a:off x="11590973" y="3213735"/>
            <a:ext cx="1676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2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Plans informed by</a:t>
            </a:r>
          </a:p>
          <a:p>
            <a:pPr>
              <a:defRPr sz="12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2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patient data</a:t>
            </a:r>
          </a:p>
        </p:txBody>
      </p:sp>
      <p:sp>
        <p:nvSpPr>
          <p:cNvPr id="3002" name="replace-1003">
            <a:extLst>
              <a:ext uri="{FF2B5EF4-FFF2-40B4-BE49-F238E27FC236}">
                <a16:creationId xmlns:a16="http://schemas.microsoft.com/office/drawing/2014/main" id="{4C2C4901-3A94-4EFF-8636-E15344732482}"/>
              </a:ext>
            </a:extLst>
          </p:cNvPr>
          <p:cNvSpPr>
            <a:spLocks noGrp="1"/>
          </p:cNvSpPr>
          <p:nvPr/>
        </p:nvSpPr>
        <p:spPr>
          <a:xfrm>
            <a:off x="228600" y="3695700"/>
            <a:ext cx="186690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Assessments and prescriptions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Automatic and exception routes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Combined or rehab-only plans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Appointments and follow-up</a:t>
            </a:r>
          </a:p>
        </p:txBody>
      </p:sp>
      <p:sp>
        <p:nvSpPr>
          <p:cNvPr id="3003" name="replace-1004">
            <a:extLst>
              <a:ext uri="{FF2B5EF4-FFF2-40B4-BE49-F238E27FC236}">
                <a16:creationId xmlns:a16="http://schemas.microsoft.com/office/drawing/2014/main" id="{BB5A2EED-69E6-485F-A589-4577283A1BE9}"/>
              </a:ext>
            </a:extLst>
          </p:cNvPr>
          <p:cNvSpPr>
            <a:spLocks noGrp="1"/>
          </p:cNvSpPr>
          <p:nvPr/>
        </p:nvSpPr>
        <p:spPr>
          <a:xfrm>
            <a:off x="209550" y="5448300"/>
            <a:ext cx="188595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Verification and valid stock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Refill and duplicate controls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Cash / card collection records</a:t>
            </a:r>
          </a:p>
          <a:p>
            <a:pPr>
              <a:def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Coverage and printable receipts</a:t>
            </a:r>
          </a:p>
        </p:txBody>
      </p:sp>
      <p:sp>
        <p:nvSpPr>
          <p:cNvPr id="3004" name="replace-1006">
            <a:extLst>
              <a:ext uri="{FF2B5EF4-FFF2-40B4-BE49-F238E27FC236}">
                <a16:creationId xmlns:a16="http://schemas.microsoft.com/office/drawing/2014/main" id="{CA200FBA-F57D-4CAF-A559-7DE674564D53}"/>
              </a:ext>
            </a:extLst>
          </p:cNvPr>
          <p:cNvSpPr>
            <a:spLocks noGrp="1"/>
          </p:cNvSpPr>
          <p:nvPr/>
        </p:nvSpPr>
        <p:spPr>
          <a:xfrm>
            <a:off x="13716000" y="3781425"/>
            <a:ext cx="1790700" cy="981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91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1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Centres and clinical teams</a:t>
            </a:r>
          </a:p>
          <a:p>
            <a:pPr>
              <a:defRPr sz="91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1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Services, capacity and contracts</a:t>
            </a:r>
          </a:p>
          <a:p>
            <a:pPr>
              <a:defRPr sz="91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1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Stock receipts and supply requests</a:t>
            </a:r>
          </a:p>
          <a:p>
            <a:pPr>
              <a:defRPr sz="91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91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• Batches, expiry and transfers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1_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097500" cy="7620000"/>
          </a:xfrm>
          <a:prstGeom prst="rect">
            <a:avLst/>
          </a:prstGeom>
        </p:spPr>
      </p:pic>
      <p:sp>
        <p:nvSpPr>
          <p:cNvPr id="3" name="Rectangle 1"/>
          <p:cNvSpPr/>
          <p:nvPr/>
        </p:nvSpPr>
        <p:spPr>
          <a:xfrm>
            <a:off x="-38100" y="-87331"/>
            <a:ext cx="18451494" cy="8493931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pic>
        <p:nvPicPr>
          <p:cNvPr id="4" name="Layer 1" descr="s1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" y="142875"/>
            <a:ext cx="3219450" cy="1971675"/>
          </a:xfrm>
          <a:prstGeom prst="rect">
            <a:avLst/>
          </a:prstGeom>
        </p:spPr>
      </p:pic>
      <p:pic>
        <p:nvPicPr>
          <p:cNvPr id="5" name="Layer 3" descr="s1_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5834643"/>
            <a:ext cx="3038475" cy="2581275"/>
          </a:xfrm>
          <a:prstGeom prst="rect">
            <a:avLst/>
          </a:prstGeom>
        </p:spPr>
      </p:pic>
      <p:pic>
        <p:nvPicPr>
          <p:cNvPr id="6" name="Layer 2" descr="s1_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700" y="2076450"/>
            <a:ext cx="9810750" cy="5819775"/>
          </a:xfrm>
          <a:prstGeom prst="rect">
            <a:avLst/>
          </a:prstGeom>
        </p:spPr>
      </p:pic>
      <p:pic>
        <p:nvPicPr>
          <p:cNvPr id="7" name="Layer 12" descr="s1_l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8200" y="4743450"/>
            <a:ext cx="3543300" cy="2867025"/>
          </a:xfrm>
          <a:prstGeom prst="rect">
            <a:avLst/>
          </a:prstGeom>
        </p:spPr>
      </p:pic>
      <p:pic>
        <p:nvPicPr>
          <p:cNvPr id="8" name="Layer 11" descr="s1_l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0" y="1666875"/>
            <a:ext cx="3590925" cy="2686050"/>
          </a:xfrm>
          <a:prstGeom prst="rect">
            <a:avLst/>
          </a:prstGeom>
        </p:spPr>
      </p:pic>
      <p:pic>
        <p:nvPicPr>
          <p:cNvPr id="9" name="Layer 10" descr="s1_l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6950" y="4438650"/>
            <a:ext cx="3752850" cy="3352800"/>
          </a:xfrm>
          <a:prstGeom prst="rect">
            <a:avLst/>
          </a:prstGeom>
        </p:spPr>
      </p:pic>
      <p:pic>
        <p:nvPicPr>
          <p:cNvPr id="10" name="Layer 9" descr="s1_l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6950" y="1209675"/>
            <a:ext cx="3829050" cy="3390900"/>
          </a:xfrm>
          <a:prstGeom prst="rect">
            <a:avLst/>
          </a:prstGeom>
        </p:spPr>
      </p:pic>
      <p:sp>
        <p:nvSpPr>
          <p:cNvPr id="11" name="The Intelligent Care Ecosystem"/>
          <p:cNvSpPr txBox="1"/>
          <p:nvPr/>
        </p:nvSpPr>
        <p:spPr>
          <a:xfrm>
            <a:off x="4781550" y="-27447"/>
            <a:ext cx="9163050" cy="7429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375" b="1" dirty="0">
                <a:solidFill>
                  <a:srgbClr val="183541"/>
                </a:solidFill>
                <a:latin typeface="Dubai"/>
                <a:ea typeface="Dubai"/>
                <a:cs typeface="Dubai"/>
              </a:rPr>
              <a:t>The Intelligent Care Ecosystem</a:t>
            </a:r>
          </a:p>
        </p:txBody>
      </p:sp>
      <p:sp>
        <p:nvSpPr>
          <p:cNvPr id="12" name="A Connected Healthcare Ecosystem"/>
          <p:cNvSpPr txBox="1"/>
          <p:nvPr/>
        </p:nvSpPr>
        <p:spPr>
          <a:xfrm>
            <a:off x="6400800" y="671512"/>
            <a:ext cx="5924550" cy="457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b="0" dirty="0">
                <a:solidFill>
                  <a:srgbClr val="183541"/>
                </a:solidFill>
                <a:latin typeface="Dubai Medium"/>
                <a:ea typeface="Dubai Medium"/>
                <a:cs typeface="Dubai Medium"/>
              </a:rPr>
              <a:t>A Connected Healthcare Ecosystem</a:t>
            </a:r>
          </a:p>
        </p:txBody>
      </p:sp>
      <p:pic>
        <p:nvPicPr>
          <p:cNvPr id="18" name="Layer 4" descr="s1_l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914183" y="6034901"/>
            <a:ext cx="2495550" cy="2314575"/>
          </a:xfrm>
          <a:prstGeom prst="rect">
            <a:avLst/>
          </a:prstGeom>
        </p:spPr>
      </p:pic>
      <p:pic>
        <p:nvPicPr>
          <p:cNvPr id="19" name="Layer 5" descr="s1_l1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20685" y="-104775"/>
            <a:ext cx="2533650" cy="2171700"/>
          </a:xfrm>
          <a:prstGeom prst="rect">
            <a:avLst/>
          </a:prstGeom>
        </p:spPr>
      </p:pic>
      <p:pic>
        <p:nvPicPr>
          <p:cNvPr id="20" name="Layer 6" descr="s1_l1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44284" y="-117048"/>
            <a:ext cx="2305050" cy="1447800"/>
          </a:xfrm>
          <a:prstGeom prst="rect">
            <a:avLst/>
          </a:prstGeom>
        </p:spPr>
      </p:pic>
      <p:pic>
        <p:nvPicPr>
          <p:cNvPr id="21" name="Layer 7" descr="s1_l1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9200" y="1609725"/>
            <a:ext cx="1581150" cy="3867150"/>
          </a:xfrm>
          <a:prstGeom prst="rect">
            <a:avLst/>
          </a:prstGeom>
        </p:spPr>
      </p:pic>
      <p:pic>
        <p:nvPicPr>
          <p:cNvPr id="22" name="Layer 8" descr="s1_l2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173325" y="6724650"/>
            <a:ext cx="1276350" cy="714375"/>
          </a:xfrm>
          <a:prstGeom prst="rect">
            <a:avLst/>
          </a:prstGeom>
        </p:spPr>
      </p:pic>
      <p:sp>
        <p:nvSpPr>
          <p:cNvPr id="3002" name="replace-13">
            <a:extLst>
              <a:ext uri="{FF2B5EF4-FFF2-40B4-BE49-F238E27FC236}">
                <a16:creationId xmlns:a16="http://schemas.microsoft.com/office/drawing/2014/main" id="{9DC4D4E9-9440-461F-B643-4C2BB8777A1E}"/>
              </a:ext>
            </a:extLst>
          </p:cNvPr>
          <p:cNvSpPr>
            <a:spLocks noGrp="1"/>
          </p:cNvSpPr>
          <p:nvPr/>
        </p:nvSpPr>
        <p:spPr>
          <a:xfrm>
            <a:off x="4676775" y="1104900"/>
            <a:ext cx="90963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Five connected workspaces share patient, treatment and supply records.</a:t>
            </a:r>
          </a:p>
          <a:p>
            <a:pPr>
              <a:defRPr sz="18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Each care action carries its updates into the next stage of the journey.</a:t>
            </a:r>
          </a:p>
        </p:txBody>
      </p:sp>
      <p:sp>
        <p:nvSpPr>
          <p:cNvPr id="3003" name="card-14-title">
            <a:extLst>
              <a:ext uri="{FF2B5EF4-FFF2-40B4-BE49-F238E27FC236}">
                <a16:creationId xmlns:a16="http://schemas.microsoft.com/office/drawing/2014/main" id="{B2611BE8-BBB0-4F73-9FAA-1D70A1B0CF76}"/>
              </a:ext>
            </a:extLst>
          </p:cNvPr>
          <p:cNvSpPr>
            <a:spLocks noGrp="1"/>
          </p:cNvSpPr>
          <p:nvPr/>
        </p:nvSpPr>
        <p:spPr>
          <a:xfrm>
            <a:off x="3067050" y="2809875"/>
            <a:ext cx="29051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0D2947"/>
                </a:solidFill>
                <a:latin typeface="Dubai"/>
                <a:ea typeface="Dubai"/>
                <a:cs typeface="Dubai"/>
              </a:defRPr>
            </a:pPr>
            <a:r>
              <a:rPr sz="1800" b="1">
                <a:solidFill>
                  <a:srgbClr val="0D2947"/>
                </a:solidFill>
                <a:latin typeface="Dubai"/>
                <a:ea typeface="Dubai"/>
                <a:cs typeface="Dubai"/>
              </a:rPr>
              <a:t>Shared patient records</a:t>
            </a:r>
          </a:p>
        </p:txBody>
      </p:sp>
      <p:sp>
        <p:nvSpPr>
          <p:cNvPr id="3004" name="card-14-body">
            <a:extLst>
              <a:ext uri="{FF2B5EF4-FFF2-40B4-BE49-F238E27FC236}">
                <a16:creationId xmlns:a16="http://schemas.microsoft.com/office/drawing/2014/main" id="{A11BC90D-EBA8-4B2D-B967-5BFE4F2245BE}"/>
              </a:ext>
            </a:extLst>
          </p:cNvPr>
          <p:cNvSpPr>
            <a:spLocks noGrp="1"/>
          </p:cNvSpPr>
          <p:nvPr/>
        </p:nvSpPr>
        <p:spPr>
          <a:xfrm>
            <a:off x="3067050" y="3152775"/>
            <a:ext cx="300037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Identity and clinical intake</a:t>
            </a:r>
          </a:p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Vitals and laboratory evidence</a:t>
            </a:r>
          </a:p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Treatment and dispensing</a:t>
            </a:r>
          </a:p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Appointments and progress</a:t>
            </a:r>
          </a:p>
        </p:txBody>
      </p:sp>
      <p:sp>
        <p:nvSpPr>
          <p:cNvPr id="3005" name="card-15-title">
            <a:extLst>
              <a:ext uri="{FF2B5EF4-FFF2-40B4-BE49-F238E27FC236}">
                <a16:creationId xmlns:a16="http://schemas.microsoft.com/office/drawing/2014/main" id="{D5FF69FA-CC88-4EA3-B394-D976BC1CDB49}"/>
              </a:ext>
            </a:extLst>
          </p:cNvPr>
          <p:cNvSpPr>
            <a:spLocks noGrp="1"/>
          </p:cNvSpPr>
          <p:nvPr/>
        </p:nvSpPr>
        <p:spPr>
          <a:xfrm>
            <a:off x="3067050" y="5924550"/>
            <a:ext cx="29051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0D2947"/>
                </a:solidFill>
                <a:latin typeface="Dubai"/>
                <a:ea typeface="Dubai"/>
                <a:cs typeface="Dubai"/>
              </a:defRPr>
            </a:pPr>
            <a:r>
              <a:rPr sz="1800" b="1">
                <a:solidFill>
                  <a:srgbClr val="0D2947"/>
                </a:solidFill>
                <a:latin typeface="Dubai"/>
                <a:ea typeface="Dubai"/>
                <a:cs typeface="Dubai"/>
              </a:rPr>
              <a:t>Connected workflows</a:t>
            </a:r>
          </a:p>
        </p:txBody>
      </p:sp>
      <p:sp>
        <p:nvSpPr>
          <p:cNvPr id="3006" name="card-15-body">
            <a:extLst>
              <a:ext uri="{FF2B5EF4-FFF2-40B4-BE49-F238E27FC236}">
                <a16:creationId xmlns:a16="http://schemas.microsoft.com/office/drawing/2014/main" id="{C2C60A49-AA67-46D0-A415-BD43857D0317}"/>
              </a:ext>
            </a:extLst>
          </p:cNvPr>
          <p:cNvSpPr>
            <a:spLocks noGrp="1"/>
          </p:cNvSpPr>
          <p:nvPr/>
        </p:nvSpPr>
        <p:spPr>
          <a:xfrm>
            <a:off x="3067050" y="6267450"/>
            <a:ext cx="300037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Eligible requests to pharmacy</a:t>
            </a:r>
          </a:p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Exceptions to reviewers</a:t>
            </a:r>
          </a:p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Stock and coverage updates</a:t>
            </a:r>
          </a:p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Patient notifications</a:t>
            </a:r>
          </a:p>
        </p:txBody>
      </p:sp>
      <p:sp>
        <p:nvSpPr>
          <p:cNvPr id="3007" name="card-16-title">
            <a:extLst>
              <a:ext uri="{FF2B5EF4-FFF2-40B4-BE49-F238E27FC236}">
                <a16:creationId xmlns:a16="http://schemas.microsoft.com/office/drawing/2014/main" id="{B936A88C-393C-4A4B-AE22-BCAD6CF69A80}"/>
              </a:ext>
            </a:extLst>
          </p:cNvPr>
          <p:cNvSpPr>
            <a:spLocks noGrp="1"/>
          </p:cNvSpPr>
          <p:nvPr/>
        </p:nvSpPr>
        <p:spPr>
          <a:xfrm>
            <a:off x="13192125" y="2809875"/>
            <a:ext cx="29051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0D2947"/>
                </a:solidFill>
                <a:latin typeface="Dubai"/>
                <a:ea typeface="Dubai"/>
                <a:cs typeface="Dubai"/>
              </a:defRPr>
            </a:pPr>
            <a:r>
              <a:rPr sz="1800" b="1">
                <a:solidFill>
                  <a:srgbClr val="0D2947"/>
                </a:solidFill>
                <a:latin typeface="Dubai"/>
                <a:ea typeface="Dubai"/>
                <a:cs typeface="Dubai"/>
              </a:rPr>
              <a:t>Five workspaces</a:t>
            </a:r>
          </a:p>
        </p:txBody>
      </p:sp>
      <p:sp>
        <p:nvSpPr>
          <p:cNvPr id="3008" name="card-16-body">
            <a:extLst>
              <a:ext uri="{FF2B5EF4-FFF2-40B4-BE49-F238E27FC236}">
                <a16:creationId xmlns:a16="http://schemas.microsoft.com/office/drawing/2014/main" id="{4B41A064-0D01-433D-9D3F-4DEC5469B119}"/>
              </a:ext>
            </a:extLst>
          </p:cNvPr>
          <p:cNvSpPr>
            <a:spLocks noGrp="1"/>
          </p:cNvSpPr>
          <p:nvPr/>
        </p:nvSpPr>
        <p:spPr>
          <a:xfrm>
            <a:off x="13192125" y="3152775"/>
            <a:ext cx="300037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Admin and governance</a:t>
            </a:r>
          </a:p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Doctor and medical reviewer</a:t>
            </a:r>
          </a:p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Pharmacist and patient</a:t>
            </a:r>
          </a:p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Permissions for each role</a:t>
            </a:r>
          </a:p>
        </p:txBody>
      </p:sp>
      <p:sp>
        <p:nvSpPr>
          <p:cNvPr id="3009" name="card-17-title">
            <a:extLst>
              <a:ext uri="{FF2B5EF4-FFF2-40B4-BE49-F238E27FC236}">
                <a16:creationId xmlns:a16="http://schemas.microsoft.com/office/drawing/2014/main" id="{8EDD4740-8202-4145-85E0-83CAA72A31F4}"/>
              </a:ext>
            </a:extLst>
          </p:cNvPr>
          <p:cNvSpPr>
            <a:spLocks noGrp="1"/>
          </p:cNvSpPr>
          <p:nvPr/>
        </p:nvSpPr>
        <p:spPr>
          <a:xfrm>
            <a:off x="13134975" y="5924550"/>
            <a:ext cx="29051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1">
                <a:solidFill>
                  <a:srgbClr val="0D2947"/>
                </a:solidFill>
                <a:latin typeface="Dubai"/>
                <a:ea typeface="Dubai"/>
                <a:cs typeface="Dubai"/>
              </a:defRPr>
            </a:pPr>
            <a:r>
              <a:rPr sz="1800" b="1">
                <a:solidFill>
                  <a:srgbClr val="0D2947"/>
                </a:solidFill>
                <a:latin typeface="Dubai"/>
                <a:ea typeface="Dubai"/>
                <a:cs typeface="Dubai"/>
              </a:rPr>
              <a:t>Programme monitoring</a:t>
            </a:r>
          </a:p>
        </p:txBody>
      </p:sp>
      <p:sp>
        <p:nvSpPr>
          <p:cNvPr id="3010" name="card-17-body">
            <a:extLst>
              <a:ext uri="{FF2B5EF4-FFF2-40B4-BE49-F238E27FC236}">
                <a16:creationId xmlns:a16="http://schemas.microsoft.com/office/drawing/2014/main" id="{2DD70B41-2D1B-4705-9EB0-05A63DC0B064}"/>
              </a:ext>
            </a:extLst>
          </p:cNvPr>
          <p:cNvSpPr>
            <a:spLocks noGrp="1"/>
          </p:cNvSpPr>
          <p:nvPr/>
        </p:nvSpPr>
        <p:spPr>
          <a:xfrm>
            <a:off x="13134975" y="6267450"/>
            <a:ext cx="300037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Patient and treatment status</a:t>
            </a:r>
          </a:p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Adherence and follow-up</a:t>
            </a:r>
          </a:p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Supply and safety indicators</a:t>
            </a:r>
          </a:p>
          <a:p>
            <a:pPr>
              <a:def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6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Reports and source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1_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097500" cy="7620000"/>
          </a:xfrm>
          <a:prstGeom prst="rect">
            <a:avLst/>
          </a:prstGeom>
        </p:spPr>
      </p:pic>
      <p:sp>
        <p:nvSpPr>
          <p:cNvPr id="3" name="Rectangle 1"/>
          <p:cNvSpPr/>
          <p:nvPr/>
        </p:nvSpPr>
        <p:spPr>
          <a:xfrm>
            <a:off x="-38100" y="0"/>
            <a:ext cx="18135600" cy="8038213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txBody>
          <a:bodyPr rtlCol="0" anchor="ctr"/>
          <a:lstStyle/>
          <a:p>
            <a:pPr marL="0" algn="r" defTabSz="457200" rtl="1" eaLnBrk="1" latinLnBrk="0" hangingPunct="1"/>
            <a:endParaRPr/>
          </a:p>
        </p:txBody>
      </p:sp>
      <p:pic>
        <p:nvPicPr>
          <p:cNvPr id="4" name="Layer 1" descr="s1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" y="142875"/>
            <a:ext cx="3219450" cy="1971675"/>
          </a:xfrm>
          <a:prstGeom prst="rect">
            <a:avLst/>
          </a:prstGeom>
        </p:spPr>
      </p:pic>
      <p:pic>
        <p:nvPicPr>
          <p:cNvPr id="5" name="Layer 3" descr="s1_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5210175"/>
            <a:ext cx="3038475" cy="2581275"/>
          </a:xfrm>
          <a:prstGeom prst="rect">
            <a:avLst/>
          </a:prstGeom>
        </p:spPr>
      </p:pic>
      <p:pic>
        <p:nvPicPr>
          <p:cNvPr id="6" name="Layer 12" descr="s8_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425" y="416966"/>
            <a:ext cx="12515850" cy="8089081"/>
          </a:xfrm>
          <a:prstGeom prst="rect">
            <a:avLst/>
          </a:prstGeom>
        </p:spPr>
      </p:pic>
      <p:pic>
        <p:nvPicPr>
          <p:cNvPr id="7" name="Layer 20" descr="s8_l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0075" y="1895475"/>
            <a:ext cx="3438525" cy="1219200"/>
          </a:xfrm>
          <a:prstGeom prst="rect">
            <a:avLst/>
          </a:prstGeom>
        </p:spPr>
      </p:pic>
      <p:pic>
        <p:nvPicPr>
          <p:cNvPr id="8" name="Layer 19" descr="s8_l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63500" y="3248025"/>
            <a:ext cx="3429000" cy="1238250"/>
          </a:xfrm>
          <a:prstGeom prst="rect">
            <a:avLst/>
          </a:prstGeom>
        </p:spPr>
      </p:pic>
      <p:pic>
        <p:nvPicPr>
          <p:cNvPr id="9" name="Layer 18" descr="s8_l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68200" y="4619625"/>
            <a:ext cx="3476625" cy="1333500"/>
          </a:xfrm>
          <a:prstGeom prst="rect">
            <a:avLst/>
          </a:prstGeom>
        </p:spPr>
      </p:pic>
      <p:pic>
        <p:nvPicPr>
          <p:cNvPr id="10" name="Layer 17" descr="s8_l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9450" y="6057900"/>
            <a:ext cx="3790950" cy="1276350"/>
          </a:xfrm>
          <a:prstGeom prst="rect">
            <a:avLst/>
          </a:prstGeom>
        </p:spPr>
      </p:pic>
      <p:pic>
        <p:nvPicPr>
          <p:cNvPr id="11" name="Layer 16" descr="s8_l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52775" y="6134100"/>
            <a:ext cx="3562350" cy="1209675"/>
          </a:xfrm>
          <a:prstGeom prst="rect">
            <a:avLst/>
          </a:prstGeom>
        </p:spPr>
      </p:pic>
      <p:pic>
        <p:nvPicPr>
          <p:cNvPr id="12" name="Layer 15" descr="s8_l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3175" y="4638675"/>
            <a:ext cx="3219450" cy="1333500"/>
          </a:xfrm>
          <a:prstGeom prst="rect">
            <a:avLst/>
          </a:prstGeom>
        </p:spPr>
      </p:pic>
      <p:pic>
        <p:nvPicPr>
          <p:cNvPr id="13" name="Layer 14" descr="s8_l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28825" y="3238500"/>
            <a:ext cx="3267075" cy="1228725"/>
          </a:xfrm>
          <a:prstGeom prst="rect">
            <a:avLst/>
          </a:prstGeom>
        </p:spPr>
      </p:pic>
      <p:pic>
        <p:nvPicPr>
          <p:cNvPr id="14" name="Layer 13" descr="s8_l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81200" y="1943100"/>
            <a:ext cx="3924300" cy="1390650"/>
          </a:xfrm>
          <a:prstGeom prst="rect">
            <a:avLst/>
          </a:prstGeom>
        </p:spPr>
      </p:pic>
      <p:sp>
        <p:nvSpPr>
          <p:cNvPr id="15" name="AI-Enabled Care Support"/>
          <p:cNvSpPr txBox="1"/>
          <p:nvPr/>
        </p:nvSpPr>
        <p:spPr>
          <a:xfrm>
            <a:off x="6943725" y="149270"/>
            <a:ext cx="4864894" cy="504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13" b="1">
                <a:solidFill>
                  <a:srgbClr val="183541"/>
                </a:solidFill>
                <a:latin typeface="Dubai"/>
                <a:ea typeface="Dubai"/>
                <a:cs typeface="Dubai"/>
              </a:rPr>
              <a:t>AI-Enabled Care Support</a:t>
            </a:r>
          </a:p>
        </p:txBody>
      </p:sp>
      <p:sp>
        <p:nvSpPr>
          <p:cNvPr id="16" name="AI That Supports Care and Decision-Making"/>
          <p:cNvSpPr txBox="1"/>
          <p:nvPr/>
        </p:nvSpPr>
        <p:spPr>
          <a:xfrm>
            <a:off x="6372225" y="704712"/>
            <a:ext cx="6448425" cy="4095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87" b="0" dirty="0">
                <a:solidFill>
                  <a:srgbClr val="183541"/>
                </a:solidFill>
                <a:latin typeface="Dubai Medium"/>
                <a:ea typeface="Dubai Medium"/>
                <a:cs typeface="Dubai Medium"/>
              </a:rPr>
              <a:t>AI That Supports Care and Decision-Making</a:t>
            </a:r>
          </a:p>
        </p:txBody>
      </p:sp>
      <p:sp>
        <p:nvSpPr>
          <p:cNvPr id="18" name="Health Risk Prediction:"/>
          <p:cNvSpPr txBox="1"/>
          <p:nvPr/>
        </p:nvSpPr>
        <p:spPr>
          <a:xfrm>
            <a:off x="3860508" y="2106643"/>
            <a:ext cx="2671762" cy="2966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46" b="1" dirty="0">
                <a:solidFill>
                  <a:srgbClr val="183541"/>
                </a:solidFill>
                <a:latin typeface="Dubai"/>
                <a:ea typeface="Dubai"/>
                <a:cs typeface="Dubai"/>
              </a:rPr>
              <a:t>Health Risk Prediction</a:t>
            </a:r>
          </a:p>
        </p:txBody>
      </p:sp>
      <p:sp>
        <p:nvSpPr>
          <p:cNvPr id="19" name="Dispensing Eligibility:"/>
          <p:cNvSpPr txBox="1"/>
          <p:nvPr/>
        </p:nvSpPr>
        <p:spPr>
          <a:xfrm>
            <a:off x="13487400" y="2093690"/>
            <a:ext cx="2514600" cy="2966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46" b="1" dirty="0">
                <a:solidFill>
                  <a:srgbClr val="183541"/>
                </a:solidFill>
                <a:latin typeface="Dubai"/>
                <a:ea typeface="Dubai"/>
                <a:cs typeface="Dubai"/>
              </a:rPr>
              <a:t>Dispensing Eligibility</a:t>
            </a:r>
          </a:p>
        </p:txBody>
      </p:sp>
      <p:sp>
        <p:nvSpPr>
          <p:cNvPr id="20" name="Clinical Records  Assistant:"/>
          <p:cNvSpPr txBox="1"/>
          <p:nvPr/>
        </p:nvSpPr>
        <p:spPr>
          <a:xfrm>
            <a:off x="14169006" y="3422169"/>
            <a:ext cx="1990725" cy="5170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46" b="1" dirty="0">
                <a:solidFill>
                  <a:srgbClr val="183541"/>
                </a:solidFill>
                <a:latin typeface="Dubai"/>
                <a:ea typeface="Dubai"/>
                <a:cs typeface="Dubai"/>
              </a:rPr>
              <a:t>Clinical Records 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46" b="1" dirty="0">
                <a:solidFill>
                  <a:srgbClr val="183541"/>
                </a:solidFill>
                <a:latin typeface="Dubai"/>
                <a:ea typeface="Dubai"/>
                <a:cs typeface="Dubai"/>
              </a:rPr>
              <a:t>Assistant</a:t>
            </a:r>
          </a:p>
        </p:txBody>
      </p:sp>
      <p:sp>
        <p:nvSpPr>
          <p:cNvPr id="21" name="Personalized Care:"/>
          <p:cNvSpPr txBox="1"/>
          <p:nvPr/>
        </p:nvSpPr>
        <p:spPr>
          <a:xfrm>
            <a:off x="13813350" y="4849502"/>
            <a:ext cx="2190750" cy="2966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46" b="1" dirty="0">
                <a:solidFill>
                  <a:srgbClr val="183541"/>
                </a:solidFill>
                <a:latin typeface="Dubai"/>
                <a:ea typeface="Dubai"/>
                <a:cs typeface="Dubai"/>
              </a:rPr>
              <a:t>Personalised Care</a:t>
            </a:r>
          </a:p>
        </p:txBody>
      </p:sp>
      <p:sp>
        <p:nvSpPr>
          <p:cNvPr id="22" name="Adherence Risk  Prediction:"/>
          <p:cNvSpPr txBox="1"/>
          <p:nvPr/>
        </p:nvSpPr>
        <p:spPr>
          <a:xfrm>
            <a:off x="12506325" y="6269492"/>
            <a:ext cx="1971675" cy="5170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46" b="1" dirty="0">
                <a:solidFill>
                  <a:srgbClr val="183541"/>
                </a:solidFill>
                <a:latin typeface="Dubai"/>
                <a:ea typeface="Dubai"/>
                <a:cs typeface="Dubai"/>
              </a:rPr>
              <a:t>Adherence Risk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46" b="1" dirty="0">
                <a:solidFill>
                  <a:srgbClr val="183541"/>
                </a:solidFill>
                <a:latin typeface="Dubai"/>
                <a:ea typeface="Dubai"/>
                <a:cs typeface="Dubai"/>
              </a:rPr>
              <a:t> Prediction</a:t>
            </a:r>
          </a:p>
        </p:txBody>
      </p:sp>
      <p:sp>
        <p:nvSpPr>
          <p:cNvPr id="23" name="Medication Safety:"/>
          <p:cNvSpPr txBox="1"/>
          <p:nvPr/>
        </p:nvSpPr>
        <p:spPr>
          <a:xfrm>
            <a:off x="4641838" y="6305507"/>
            <a:ext cx="2209800" cy="29663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46" b="1" dirty="0">
                <a:solidFill>
                  <a:srgbClr val="183541"/>
                </a:solidFill>
                <a:latin typeface="Dubai"/>
                <a:ea typeface="Dubai"/>
                <a:cs typeface="Dubai"/>
              </a:rPr>
              <a:t>Medication Safety</a:t>
            </a:r>
          </a:p>
        </p:txBody>
      </p:sp>
      <p:sp>
        <p:nvSpPr>
          <p:cNvPr id="24" name="Medical Treatment  Eligibility:"/>
          <p:cNvSpPr txBox="1"/>
          <p:nvPr/>
        </p:nvSpPr>
        <p:spPr>
          <a:xfrm>
            <a:off x="3860508" y="4814301"/>
            <a:ext cx="2209800" cy="5170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46" b="1" dirty="0">
                <a:solidFill>
                  <a:srgbClr val="183541"/>
                </a:solidFill>
                <a:latin typeface="Dubai"/>
                <a:ea typeface="Dubai"/>
                <a:cs typeface="Dubai"/>
              </a:rPr>
              <a:t>Medical Treatment 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46" b="1" dirty="0">
                <a:solidFill>
                  <a:srgbClr val="183541"/>
                </a:solidFill>
                <a:latin typeface="Dubai"/>
                <a:ea typeface="Dubai"/>
                <a:cs typeface="Dubai"/>
              </a:rPr>
              <a:t>Eligibility</a:t>
            </a:r>
          </a:p>
        </p:txBody>
      </p:sp>
      <p:sp>
        <p:nvSpPr>
          <p:cNvPr id="25" name="Demand &amp; Stock  Forecasting"/>
          <p:cNvSpPr txBox="1"/>
          <p:nvPr/>
        </p:nvSpPr>
        <p:spPr>
          <a:xfrm>
            <a:off x="3343844" y="3413117"/>
            <a:ext cx="2057400" cy="5170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46" b="1" dirty="0">
                <a:solidFill>
                  <a:srgbClr val="183541"/>
                </a:solidFill>
                <a:latin typeface="Dubai"/>
                <a:ea typeface="Dubai"/>
                <a:cs typeface="Dubai"/>
              </a:rPr>
              <a:t>Demand &amp; Stock 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46" b="1" dirty="0">
                <a:solidFill>
                  <a:srgbClr val="183541"/>
                </a:solidFill>
                <a:latin typeface="Dubai"/>
                <a:ea typeface="Dubai"/>
                <a:cs typeface="Dubai"/>
              </a:rPr>
              <a:t>Forecasting</a:t>
            </a:r>
          </a:p>
        </p:txBody>
      </p:sp>
      <p:pic>
        <p:nvPicPr>
          <p:cNvPr id="34" name="Layer 4" descr="s1_l1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601950" y="5343525"/>
            <a:ext cx="2495550" cy="2314575"/>
          </a:xfrm>
          <a:prstGeom prst="rect">
            <a:avLst/>
          </a:prstGeom>
        </p:spPr>
      </p:pic>
      <p:pic>
        <p:nvPicPr>
          <p:cNvPr id="35" name="Layer 5" descr="s1_l17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563850" y="-15566"/>
            <a:ext cx="2533650" cy="2171700"/>
          </a:xfrm>
          <a:prstGeom prst="rect">
            <a:avLst/>
          </a:prstGeom>
        </p:spPr>
      </p:pic>
      <p:pic>
        <p:nvPicPr>
          <p:cNvPr id="36" name="Layer 6" descr="s1_l1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38100" y="0"/>
            <a:ext cx="2305050" cy="1447800"/>
          </a:xfrm>
          <a:prstGeom prst="rect">
            <a:avLst/>
          </a:prstGeom>
        </p:spPr>
      </p:pic>
      <p:pic>
        <p:nvPicPr>
          <p:cNvPr id="37" name="Layer 8" descr="s1_l2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554450" y="6667500"/>
            <a:ext cx="1276350" cy="714375"/>
          </a:xfrm>
          <a:prstGeom prst="rect">
            <a:avLst/>
          </a:prstGeom>
        </p:spPr>
      </p:pic>
      <p:pic>
        <p:nvPicPr>
          <p:cNvPr id="38" name="Layer 11" descr="s8_l36.png" hidden="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8100" y="-133350"/>
            <a:ext cx="1247775" cy="1333500"/>
          </a:xfrm>
          <a:prstGeom prst="rect">
            <a:avLst/>
          </a:prstGeom>
        </p:spPr>
      </p:pic>
      <p:sp>
        <p:nvSpPr>
          <p:cNvPr id="1002" name="company-3-17">
            <a:extLst>
              <a:ext uri="{FF2B5EF4-FFF2-40B4-BE49-F238E27FC236}">
                <a16:creationId xmlns:a16="http://schemas.microsoft.com/office/drawing/2014/main" id="{78DC9FEB-0F2B-4B6A-9529-143175F153BE}"/>
              </a:ext>
            </a:extLst>
          </p:cNvPr>
          <p:cNvSpPr>
            <a:spLocks noGrp="1"/>
          </p:cNvSpPr>
          <p:nvPr/>
        </p:nvSpPr>
        <p:spPr>
          <a:xfrm>
            <a:off x="4536758" y="1104900"/>
            <a:ext cx="9525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Eight data-informed capabilities supporting risk detection,</a:t>
            </a:r>
          </a:p>
          <a:p>
            <a:pPr>
              <a:defRPr sz="18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treatment and dispensing eligibility, planning and follow-up.</a:t>
            </a:r>
          </a:p>
          <a:p>
            <a:pPr>
              <a:defRPr sz="18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Clinical decisions remain with qualified professionals.</a:t>
            </a:r>
          </a:p>
        </p:txBody>
      </p:sp>
      <p:sp>
        <p:nvSpPr>
          <p:cNvPr id="3002" name="replace-26">
            <a:extLst>
              <a:ext uri="{FF2B5EF4-FFF2-40B4-BE49-F238E27FC236}">
                <a16:creationId xmlns:a16="http://schemas.microsoft.com/office/drawing/2014/main" id="{FF10372D-99BA-43AC-B095-11DFC58712C0}"/>
              </a:ext>
            </a:extLst>
          </p:cNvPr>
          <p:cNvSpPr>
            <a:spLocks noGrp="1"/>
          </p:cNvSpPr>
          <p:nvPr/>
        </p:nvSpPr>
        <p:spPr>
          <a:xfrm>
            <a:off x="3533775" y="2409825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3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3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Spot risks using vitals, BMI</a:t>
            </a:r>
          </a:p>
          <a:p>
            <a:pPr>
              <a:defRPr sz="13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3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clinical evidence.</a:t>
            </a:r>
          </a:p>
        </p:txBody>
      </p:sp>
      <p:sp>
        <p:nvSpPr>
          <p:cNvPr id="3003" name="replace-27">
            <a:extLst>
              <a:ext uri="{FF2B5EF4-FFF2-40B4-BE49-F238E27FC236}">
                <a16:creationId xmlns:a16="http://schemas.microsoft.com/office/drawing/2014/main" id="{1D0E45DA-4C7B-44E0-AC5A-3774B2B329B0}"/>
              </a:ext>
            </a:extLst>
          </p:cNvPr>
          <p:cNvSpPr>
            <a:spLocks noGrp="1"/>
          </p:cNvSpPr>
          <p:nvPr/>
        </p:nvSpPr>
        <p:spPr>
          <a:xfrm>
            <a:off x="13058775" y="2428875"/>
            <a:ext cx="22955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2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Verify identity, prescription,</a:t>
            </a:r>
          </a:p>
          <a:p>
            <a:pPr>
              <a:defRPr sz="12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2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refill timing and usable stock.</a:t>
            </a:r>
          </a:p>
        </p:txBody>
      </p:sp>
      <p:sp>
        <p:nvSpPr>
          <p:cNvPr id="3004" name="replace-28">
            <a:extLst>
              <a:ext uri="{FF2B5EF4-FFF2-40B4-BE49-F238E27FC236}">
                <a16:creationId xmlns:a16="http://schemas.microsoft.com/office/drawing/2014/main" id="{601BFD86-B318-4CC8-9A71-E98923A67471}"/>
              </a:ext>
            </a:extLst>
          </p:cNvPr>
          <p:cNvSpPr>
            <a:spLocks noGrp="1"/>
          </p:cNvSpPr>
          <p:nvPr/>
        </p:nvSpPr>
        <p:spPr>
          <a:xfrm>
            <a:off x="13954125" y="38290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Summarise records and</a:t>
            </a:r>
          </a:p>
          <a:p>
            <a:pPr>
              <a:def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link to supporting evidence.</a:t>
            </a:r>
          </a:p>
        </p:txBody>
      </p:sp>
      <p:sp>
        <p:nvSpPr>
          <p:cNvPr id="3005" name="replace-29">
            <a:extLst>
              <a:ext uri="{FF2B5EF4-FFF2-40B4-BE49-F238E27FC236}">
                <a16:creationId xmlns:a16="http://schemas.microsoft.com/office/drawing/2014/main" id="{88A35580-678E-4A1D-AE76-C9A7EC7B4AF9}"/>
              </a:ext>
            </a:extLst>
          </p:cNvPr>
          <p:cNvSpPr>
            <a:spLocks noGrp="1"/>
          </p:cNvSpPr>
          <p:nvPr/>
        </p:nvSpPr>
        <p:spPr>
          <a:xfrm>
            <a:off x="13363575" y="5143500"/>
            <a:ext cx="23145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Suggest care using patient</a:t>
            </a:r>
          </a:p>
          <a:p>
            <a:pPr>
              <a:def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history and plan checks.</a:t>
            </a:r>
          </a:p>
        </p:txBody>
      </p:sp>
      <p:sp>
        <p:nvSpPr>
          <p:cNvPr id="3006" name="replace-30">
            <a:extLst>
              <a:ext uri="{FF2B5EF4-FFF2-40B4-BE49-F238E27FC236}">
                <a16:creationId xmlns:a16="http://schemas.microsoft.com/office/drawing/2014/main" id="{52536DF8-3F79-48DD-B941-C1BDF0FF2F00}"/>
              </a:ext>
            </a:extLst>
          </p:cNvPr>
          <p:cNvSpPr>
            <a:spLocks noGrp="1"/>
          </p:cNvSpPr>
          <p:nvPr/>
        </p:nvSpPr>
        <p:spPr>
          <a:xfrm>
            <a:off x="12315825" y="6696075"/>
            <a:ext cx="2000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2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2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Track adherence and flag</a:t>
            </a:r>
          </a:p>
          <a:p>
            <a:pPr>
              <a:defRPr sz="12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2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patients needing follow-up.</a:t>
            </a:r>
          </a:p>
        </p:txBody>
      </p:sp>
      <p:sp>
        <p:nvSpPr>
          <p:cNvPr id="3007" name="replace-31">
            <a:extLst>
              <a:ext uri="{FF2B5EF4-FFF2-40B4-BE49-F238E27FC236}">
                <a16:creationId xmlns:a16="http://schemas.microsoft.com/office/drawing/2014/main" id="{CF24B80B-A30A-4908-97F4-3FC44BCAC54D}"/>
              </a:ext>
            </a:extLst>
          </p:cNvPr>
          <p:cNvSpPr>
            <a:spLocks noGrp="1"/>
          </p:cNvSpPr>
          <p:nvPr/>
        </p:nvSpPr>
        <p:spPr>
          <a:xfrm>
            <a:off x="4543425" y="6667500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Flag interactions and</a:t>
            </a:r>
          </a:p>
          <a:p>
            <a:pPr>
              <a:def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contraindications.</a:t>
            </a:r>
          </a:p>
        </p:txBody>
      </p:sp>
      <p:sp>
        <p:nvSpPr>
          <p:cNvPr id="3008" name="replace-32">
            <a:extLst>
              <a:ext uri="{FF2B5EF4-FFF2-40B4-BE49-F238E27FC236}">
                <a16:creationId xmlns:a16="http://schemas.microsoft.com/office/drawing/2014/main" id="{2D5904EF-B67E-4141-8770-12B8CB79EBA2}"/>
              </a:ext>
            </a:extLst>
          </p:cNvPr>
          <p:cNvSpPr>
            <a:spLocks noGrp="1"/>
          </p:cNvSpPr>
          <p:nvPr/>
        </p:nvSpPr>
        <p:spPr>
          <a:xfrm>
            <a:off x="3533775" y="5353050"/>
            <a:ext cx="2571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3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3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Check clinical criteria and</a:t>
            </a:r>
          </a:p>
          <a:p>
            <a:pPr>
              <a:defRPr sz="13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313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route exceptions for review.</a:t>
            </a:r>
          </a:p>
        </p:txBody>
      </p:sp>
      <p:sp>
        <p:nvSpPr>
          <p:cNvPr id="3009" name="replace-33">
            <a:extLst>
              <a:ext uri="{FF2B5EF4-FFF2-40B4-BE49-F238E27FC236}">
                <a16:creationId xmlns:a16="http://schemas.microsoft.com/office/drawing/2014/main" id="{120E1190-222E-4CD3-8A92-C090C1B7441E}"/>
              </a:ext>
            </a:extLst>
          </p:cNvPr>
          <p:cNvSpPr>
            <a:spLocks noGrp="1"/>
          </p:cNvSpPr>
          <p:nvPr/>
        </p:nvSpPr>
        <p:spPr>
          <a:xfrm>
            <a:off x="3086100" y="3886200"/>
            <a:ext cx="218122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Anticipate stock gaps and</a:t>
            </a:r>
          </a:p>
          <a:p>
            <a:pPr>
              <a:def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35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plan medication supply.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1_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097500" cy="7620000"/>
          </a:xfrm>
          <a:prstGeom prst="rect">
            <a:avLst/>
          </a:prstGeom>
        </p:spPr>
      </p:pic>
      <p:sp>
        <p:nvSpPr>
          <p:cNvPr id="3" name="Rectangle 1"/>
          <p:cNvSpPr/>
          <p:nvPr/>
        </p:nvSpPr>
        <p:spPr>
          <a:xfrm>
            <a:off x="-38100" y="19050"/>
            <a:ext cx="18135600" cy="7791451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pic>
        <p:nvPicPr>
          <p:cNvPr id="4" name="Layer 1" descr="s1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" y="142875"/>
            <a:ext cx="3219450" cy="1971675"/>
          </a:xfrm>
          <a:prstGeom prst="rect">
            <a:avLst/>
          </a:prstGeom>
        </p:spPr>
      </p:pic>
      <p:pic>
        <p:nvPicPr>
          <p:cNvPr id="5" name="Layer 3" descr="s1_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5695950"/>
            <a:ext cx="2171700" cy="1847850"/>
          </a:xfrm>
          <a:prstGeom prst="rect">
            <a:avLst/>
          </a:prstGeom>
        </p:spPr>
      </p:pic>
      <p:pic>
        <p:nvPicPr>
          <p:cNvPr id="7" name="Layer 9" descr="s2_l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625" y="323850"/>
            <a:ext cx="1095375" cy="950292"/>
          </a:xfrm>
          <a:prstGeom prst="rect">
            <a:avLst/>
          </a:prstGeom>
        </p:spPr>
      </p:pic>
      <p:pic>
        <p:nvPicPr>
          <p:cNvPr id="8" name="Layer 11" descr="s2_l6.png"/>
          <p:cNvPicPr>
            <a:picLocks noChangeAspect="1"/>
          </p:cNvPicPr>
          <p:nvPr/>
        </p:nvPicPr>
        <p:blipFill>
          <a:blip r:embed="rId6">
            <a:alphaModFix amt="67059"/>
          </a:blip>
          <a:stretch>
            <a:fillRect/>
          </a:stretch>
        </p:blipFill>
        <p:spPr>
          <a:xfrm>
            <a:off x="17465040" y="1954530"/>
            <a:ext cx="586740" cy="1264920"/>
          </a:xfrm>
          <a:prstGeom prst="rect">
            <a:avLst/>
          </a:prstGeom>
        </p:spPr>
      </p:pic>
      <p:grpSp>
        <p:nvGrpSpPr>
          <p:cNvPr id="9" name="Group 1"/>
          <p:cNvGrpSpPr/>
          <p:nvPr/>
        </p:nvGrpSpPr>
        <p:grpSpPr>
          <a:xfrm>
            <a:off x="10736580" y="1474470"/>
            <a:ext cx="7360920" cy="4861560"/>
            <a:chOff x="8896350" y="1009650"/>
            <a:chExt cx="9201150" cy="6076950"/>
          </a:xfrm>
        </p:grpSpPr>
        <p:pic>
          <p:nvPicPr>
            <p:cNvPr id="10" name="صوره" descr="s2_l8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96350" y="1009650"/>
              <a:ext cx="9201150" cy="6076950"/>
            </a:xfrm>
            <a:prstGeom prst="rect">
              <a:avLst/>
            </a:prstGeom>
          </p:spPr>
        </p:pic>
        <p:pic>
          <p:nvPicPr>
            <p:cNvPr id="11" name="Layer 10" descr="s2_l9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801850" y="1781175"/>
              <a:ext cx="2276475" cy="2895600"/>
            </a:xfrm>
            <a:prstGeom prst="rect">
              <a:avLst/>
            </a:prstGeom>
          </p:spPr>
        </p:pic>
      </p:grpSp>
      <p:pic>
        <p:nvPicPr>
          <p:cNvPr id="20" name="Layer 5" descr="s1_l1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63850" y="19050"/>
            <a:ext cx="2533650" cy="2171700"/>
          </a:xfrm>
          <a:prstGeom prst="rect">
            <a:avLst/>
          </a:prstGeom>
        </p:spPr>
      </p:pic>
      <p:pic>
        <p:nvPicPr>
          <p:cNvPr id="21" name="Layer 6" descr="s1_l1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38100" y="0"/>
            <a:ext cx="2305050" cy="1447800"/>
          </a:xfrm>
          <a:prstGeom prst="rect">
            <a:avLst/>
          </a:prstGeom>
        </p:spPr>
      </p:pic>
      <p:sp>
        <p:nvSpPr>
          <p:cNvPr id="3002" name="section-title">
            <a:extLst>
              <a:ext uri="{FF2B5EF4-FFF2-40B4-BE49-F238E27FC236}">
                <a16:creationId xmlns:a16="http://schemas.microsoft.com/office/drawing/2014/main" id="{B6AFAE90-7079-496C-B642-9717C23319A8}"/>
              </a:ext>
            </a:extLst>
          </p:cNvPr>
          <p:cNvSpPr>
            <a:spLocks noGrp="1"/>
          </p:cNvSpPr>
          <p:nvPr/>
        </p:nvSpPr>
        <p:spPr>
          <a:xfrm>
            <a:off x="3524250" y="447675"/>
            <a:ext cx="11906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825" b="1">
                <a:solidFill>
                  <a:srgbClr val="0D2947"/>
                </a:solidFill>
                <a:latin typeface="Dubai"/>
                <a:ea typeface="Dubai"/>
                <a:cs typeface="Dubai"/>
              </a:defRPr>
            </a:pPr>
            <a:r>
              <a:rPr sz="3825" b="1">
                <a:solidFill>
                  <a:srgbClr val="0D2947"/>
                </a:solidFill>
                <a:latin typeface="Dubai"/>
                <a:ea typeface="Dubai"/>
                <a:cs typeface="Dubai"/>
              </a:rPr>
              <a:t>1. Patient 360</a:t>
            </a:r>
          </a:p>
        </p:txBody>
      </p:sp>
      <p:sp>
        <p:nvSpPr>
          <p:cNvPr id="3003" name="section-subtitle">
            <a:extLst>
              <a:ext uri="{FF2B5EF4-FFF2-40B4-BE49-F238E27FC236}">
                <a16:creationId xmlns:a16="http://schemas.microsoft.com/office/drawing/2014/main" id="{A1006973-43BA-43DE-A9EC-88339439A11C}"/>
              </a:ext>
            </a:extLst>
          </p:cNvPr>
          <p:cNvSpPr>
            <a:spLocks noGrp="1"/>
          </p:cNvSpPr>
          <p:nvPr/>
        </p:nvSpPr>
        <p:spPr>
          <a:xfrm>
            <a:off x="2381250" y="1419225"/>
            <a:ext cx="11287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1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The complete patient record, daily care and progress</a:t>
            </a:r>
          </a:p>
        </p:txBody>
      </p:sp>
      <p:sp>
        <p:nvSpPr>
          <p:cNvPr id="3004" name="feature-0-heading">
            <a:extLst>
              <a:ext uri="{FF2B5EF4-FFF2-40B4-BE49-F238E27FC236}">
                <a16:creationId xmlns:a16="http://schemas.microsoft.com/office/drawing/2014/main" id="{43B6F21B-951B-4E44-A5DB-56A80D9A43F2}"/>
              </a:ext>
            </a:extLst>
          </p:cNvPr>
          <p:cNvSpPr>
            <a:spLocks noGrp="1"/>
          </p:cNvSpPr>
          <p:nvPr/>
        </p:nvSpPr>
        <p:spPr>
          <a:xfrm>
            <a:off x="2381250" y="23241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Registration &amp; care team</a:t>
            </a:r>
          </a:p>
        </p:txBody>
      </p:sp>
      <p:sp>
        <p:nvSpPr>
          <p:cNvPr id="3005" name="feature-0-body">
            <a:extLst>
              <a:ext uri="{FF2B5EF4-FFF2-40B4-BE49-F238E27FC236}">
                <a16:creationId xmlns:a16="http://schemas.microsoft.com/office/drawing/2014/main" id="{2FF27CB5-F23F-4DD8-9016-AD1D8467810E}"/>
              </a:ext>
            </a:extLst>
          </p:cNvPr>
          <p:cNvSpPr>
            <a:spLocks noGrp="1"/>
          </p:cNvSpPr>
          <p:nvPr/>
        </p:nvSpPr>
        <p:spPr>
          <a:xfrm>
            <a:off x="2381250" y="27432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Patient identity, residency and intake.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Assigned doctor and treatment centre.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Linked clinical and treatment records.</a:t>
            </a:r>
          </a:p>
        </p:txBody>
      </p:sp>
      <p:sp>
        <p:nvSpPr>
          <p:cNvPr id="3006" name="feature-1-heading">
            <a:extLst>
              <a:ext uri="{FF2B5EF4-FFF2-40B4-BE49-F238E27FC236}">
                <a16:creationId xmlns:a16="http://schemas.microsoft.com/office/drawing/2014/main" id="{8E30EB27-7A5A-44F8-97F1-23C0C5116461}"/>
              </a:ext>
            </a:extLst>
          </p:cNvPr>
          <p:cNvSpPr>
            <a:spLocks noGrp="1"/>
          </p:cNvSpPr>
          <p:nvPr/>
        </p:nvSpPr>
        <p:spPr>
          <a:xfrm>
            <a:off x="7905750" y="23241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Medical history</a:t>
            </a:r>
          </a:p>
        </p:txBody>
      </p:sp>
      <p:sp>
        <p:nvSpPr>
          <p:cNvPr id="3007" name="feature-1-body">
            <a:extLst>
              <a:ext uri="{FF2B5EF4-FFF2-40B4-BE49-F238E27FC236}">
                <a16:creationId xmlns:a16="http://schemas.microsoft.com/office/drawing/2014/main" id="{1C0D7BF8-16C0-4598-8FD3-FCAAD1CB4473}"/>
              </a:ext>
            </a:extLst>
          </p:cNvPr>
          <p:cNvSpPr>
            <a:spLocks noGrp="1"/>
          </p:cNvSpPr>
          <p:nvPr/>
        </p:nvSpPr>
        <p:spPr>
          <a:xfrm>
            <a:off x="7905750" y="27432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Previous illnesses, chronic conditions,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procedures, allergies and clinical notes.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Current and completed treatment courses.</a:t>
            </a:r>
          </a:p>
        </p:txBody>
      </p:sp>
      <p:sp>
        <p:nvSpPr>
          <p:cNvPr id="3008" name="feature-2-heading">
            <a:extLst>
              <a:ext uri="{FF2B5EF4-FFF2-40B4-BE49-F238E27FC236}">
                <a16:creationId xmlns:a16="http://schemas.microsoft.com/office/drawing/2014/main" id="{A5B7F083-B539-44F0-B145-72175E63B0FD}"/>
              </a:ext>
            </a:extLst>
          </p:cNvPr>
          <p:cNvSpPr>
            <a:spLocks noGrp="1"/>
          </p:cNvSpPr>
          <p:nvPr/>
        </p:nvSpPr>
        <p:spPr>
          <a:xfrm>
            <a:off x="2381250" y="394335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Vitals &amp; laboratory evidence</a:t>
            </a:r>
          </a:p>
        </p:txBody>
      </p:sp>
      <p:sp>
        <p:nvSpPr>
          <p:cNvPr id="3009" name="feature-2-body">
            <a:extLst>
              <a:ext uri="{FF2B5EF4-FFF2-40B4-BE49-F238E27FC236}">
                <a16:creationId xmlns:a16="http://schemas.microsoft.com/office/drawing/2014/main" id="{B3820EBE-9A6E-43F4-806A-4CD56E893B96}"/>
              </a:ext>
            </a:extLst>
          </p:cNvPr>
          <p:cNvSpPr>
            <a:spLocks noGrp="1"/>
          </p:cNvSpPr>
          <p:nvPr/>
        </p:nvSpPr>
        <p:spPr>
          <a:xfrm>
            <a:off x="2381250" y="436245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Weight, height, BMI, blood pressure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heart rate, with laboratory results.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Review values beside their source reports.</a:t>
            </a:r>
          </a:p>
        </p:txBody>
      </p:sp>
      <p:sp>
        <p:nvSpPr>
          <p:cNvPr id="3010" name="feature-3-heading">
            <a:extLst>
              <a:ext uri="{FF2B5EF4-FFF2-40B4-BE49-F238E27FC236}">
                <a16:creationId xmlns:a16="http://schemas.microsoft.com/office/drawing/2014/main" id="{83AD12D5-B3B3-4EE6-AB6B-27143A5DD5F3}"/>
              </a:ext>
            </a:extLst>
          </p:cNvPr>
          <p:cNvSpPr>
            <a:spLocks noGrp="1"/>
          </p:cNvSpPr>
          <p:nvPr/>
        </p:nvSpPr>
        <p:spPr>
          <a:xfrm>
            <a:off x="7905750" y="394335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Documents &amp; reports</a:t>
            </a:r>
          </a:p>
        </p:txBody>
      </p:sp>
      <p:sp>
        <p:nvSpPr>
          <p:cNvPr id="3011" name="feature-3-body">
            <a:extLst>
              <a:ext uri="{FF2B5EF4-FFF2-40B4-BE49-F238E27FC236}">
                <a16:creationId xmlns:a16="http://schemas.microsoft.com/office/drawing/2014/main" id="{D83A96C3-C81E-4C06-84D5-4833370864BA}"/>
              </a:ext>
            </a:extLst>
          </p:cNvPr>
          <p:cNvSpPr>
            <a:spLocks noGrp="1"/>
          </p:cNvSpPr>
          <p:nvPr/>
        </p:nvSpPr>
        <p:spPr>
          <a:xfrm>
            <a:off x="7905750" y="436245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Upload clinical files and lab evidence.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Preview original reports and attachments.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Download laboratory results as PDFs.</a:t>
            </a:r>
          </a:p>
        </p:txBody>
      </p:sp>
      <p:sp>
        <p:nvSpPr>
          <p:cNvPr id="3012" name="feature-4-heading">
            <a:extLst>
              <a:ext uri="{FF2B5EF4-FFF2-40B4-BE49-F238E27FC236}">
                <a16:creationId xmlns:a16="http://schemas.microsoft.com/office/drawing/2014/main" id="{EDCEA227-8230-4F75-9BC6-EFBC3F02FCD0}"/>
              </a:ext>
            </a:extLst>
          </p:cNvPr>
          <p:cNvSpPr>
            <a:spLocks noGrp="1"/>
          </p:cNvSpPr>
          <p:nvPr/>
        </p:nvSpPr>
        <p:spPr>
          <a:xfrm>
            <a:off x="2381250" y="55626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Medication &amp; adherence</a:t>
            </a:r>
          </a:p>
        </p:txBody>
      </p:sp>
      <p:sp>
        <p:nvSpPr>
          <p:cNvPr id="3013" name="feature-4-body">
            <a:extLst>
              <a:ext uri="{FF2B5EF4-FFF2-40B4-BE49-F238E27FC236}">
                <a16:creationId xmlns:a16="http://schemas.microsoft.com/office/drawing/2014/main" id="{4389F7EE-6AFA-45D9-A524-A58A8FE60E0E}"/>
              </a:ext>
            </a:extLst>
          </p:cNvPr>
          <p:cNvSpPr>
            <a:spLocks noGrp="1"/>
          </p:cNvSpPr>
          <p:nvPr/>
        </p:nvSpPr>
        <p:spPr>
          <a:xfrm>
            <a:off x="2381250" y="59817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Prescribed doses, dispensing history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recorded doses taken by the patient.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Adherence follows the treatment schedule.</a:t>
            </a:r>
          </a:p>
        </p:txBody>
      </p:sp>
      <p:sp>
        <p:nvSpPr>
          <p:cNvPr id="3014" name="feature-5-heading">
            <a:extLst>
              <a:ext uri="{FF2B5EF4-FFF2-40B4-BE49-F238E27FC236}">
                <a16:creationId xmlns:a16="http://schemas.microsoft.com/office/drawing/2014/main" id="{A8ECE515-758B-4F8A-8280-A322C972C32A}"/>
              </a:ext>
            </a:extLst>
          </p:cNvPr>
          <p:cNvSpPr>
            <a:spLocks noGrp="1"/>
          </p:cNvSpPr>
          <p:nvPr/>
        </p:nvSpPr>
        <p:spPr>
          <a:xfrm>
            <a:off x="7905750" y="55626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Visits &amp; patient updates</a:t>
            </a:r>
          </a:p>
        </p:txBody>
      </p:sp>
      <p:sp>
        <p:nvSpPr>
          <p:cNvPr id="3015" name="feature-5-body">
            <a:extLst>
              <a:ext uri="{FF2B5EF4-FFF2-40B4-BE49-F238E27FC236}">
                <a16:creationId xmlns:a16="http://schemas.microsoft.com/office/drawing/2014/main" id="{3D3B9807-CD5B-4FBE-A1A6-FFA446C5106B}"/>
              </a:ext>
            </a:extLst>
          </p:cNvPr>
          <p:cNvSpPr>
            <a:spLocks noGrp="1"/>
          </p:cNvSpPr>
          <p:nvPr/>
        </p:nvSpPr>
        <p:spPr>
          <a:xfrm>
            <a:off x="7905750" y="59817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Appointments and linked care plans.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Approval, information and dispensing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notifications open the related records.</a:t>
            </a:r>
          </a:p>
        </p:txBody>
      </p:sp>
      <p:sp>
        <p:nvSpPr>
          <p:cNvPr id="3016" name="rail-0-heading">
            <a:extLst>
              <a:ext uri="{FF2B5EF4-FFF2-40B4-BE49-F238E27FC236}">
                <a16:creationId xmlns:a16="http://schemas.microsoft.com/office/drawing/2014/main" id="{A4CE958E-0310-48EA-9A64-1092445E5F61}"/>
              </a:ext>
            </a:extLst>
          </p:cNvPr>
          <p:cNvSpPr>
            <a:spLocks noGrp="1"/>
          </p:cNvSpPr>
          <p:nvPr/>
        </p:nvSpPr>
        <p:spPr>
          <a:xfrm>
            <a:off x="13430250" y="468630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02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Patient statistics</a:t>
            </a:r>
          </a:p>
        </p:txBody>
      </p:sp>
      <p:sp>
        <p:nvSpPr>
          <p:cNvPr id="3017" name="rail-0-body">
            <a:extLst>
              <a:ext uri="{FF2B5EF4-FFF2-40B4-BE49-F238E27FC236}">
                <a16:creationId xmlns:a16="http://schemas.microsoft.com/office/drawing/2014/main" id="{8D1272A3-55A7-4F8C-8179-478EADC206CF}"/>
              </a:ext>
            </a:extLst>
          </p:cNvPr>
          <p:cNvSpPr>
            <a:spLocks noGrp="1"/>
          </p:cNvSpPr>
          <p:nvPr/>
        </p:nvSpPr>
        <p:spPr>
          <a:xfrm>
            <a:off x="13430250" y="5076825"/>
            <a:ext cx="41910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Weight and BMI history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Dose adherence and rehab progress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Follow-up and attendance</a:t>
            </a:r>
          </a:p>
        </p:txBody>
      </p:sp>
      <p:sp>
        <p:nvSpPr>
          <p:cNvPr id="3018" name="rail-1-heading">
            <a:extLst>
              <a:ext uri="{FF2B5EF4-FFF2-40B4-BE49-F238E27FC236}">
                <a16:creationId xmlns:a16="http://schemas.microsoft.com/office/drawing/2014/main" id="{61CC4EAF-432B-4AEB-9F5D-F705074F48E4}"/>
              </a:ext>
            </a:extLst>
          </p:cNvPr>
          <p:cNvSpPr>
            <a:spLocks noGrp="1"/>
          </p:cNvSpPr>
          <p:nvPr/>
        </p:nvSpPr>
        <p:spPr>
          <a:xfrm>
            <a:off x="13430250" y="60769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02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Activity &amp; continuity</a:t>
            </a:r>
          </a:p>
        </p:txBody>
      </p:sp>
      <p:sp>
        <p:nvSpPr>
          <p:cNvPr id="3019" name="rail-1-body">
            <a:extLst>
              <a:ext uri="{FF2B5EF4-FFF2-40B4-BE49-F238E27FC236}">
                <a16:creationId xmlns:a16="http://schemas.microsoft.com/office/drawing/2014/main" id="{665EEEC6-C1CF-4589-88FD-4B4720A2DC7E}"/>
              </a:ext>
            </a:extLst>
          </p:cNvPr>
          <p:cNvSpPr>
            <a:spLocks noGrp="1"/>
          </p:cNvSpPr>
          <p:nvPr/>
        </p:nvSpPr>
        <p:spPr>
          <a:xfrm>
            <a:off x="13430250" y="6467475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Log home activity and duration.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Keep progress and completed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treatment in the same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1_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097500" cy="7620000"/>
          </a:xfrm>
          <a:prstGeom prst="rect">
            <a:avLst/>
          </a:prstGeom>
        </p:spPr>
      </p:pic>
      <p:sp>
        <p:nvSpPr>
          <p:cNvPr id="3" name="Rectangle 1"/>
          <p:cNvSpPr/>
          <p:nvPr/>
        </p:nvSpPr>
        <p:spPr>
          <a:xfrm>
            <a:off x="-46759" y="-28055"/>
            <a:ext cx="18000518" cy="7648055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txBody>
          <a:bodyPr rtlCol="0" anchor="ctr"/>
          <a:lstStyle/>
          <a:p>
            <a:pPr marL="0" algn="ctr" defTabSz="457200" rtl="1" eaLnBrk="1" latinLnBrk="0" hangingPunct="1"/>
            <a:endParaRPr dirty="0"/>
          </a:p>
        </p:txBody>
      </p:sp>
      <p:pic>
        <p:nvPicPr>
          <p:cNvPr id="4" name="Layer 1" descr="s1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" y="142875"/>
            <a:ext cx="3219450" cy="1971675"/>
          </a:xfrm>
          <a:prstGeom prst="rect">
            <a:avLst/>
          </a:prstGeom>
        </p:spPr>
      </p:pic>
      <p:pic>
        <p:nvPicPr>
          <p:cNvPr id="5" name="Layer 3" descr="s1_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5695950"/>
            <a:ext cx="2171700" cy="1847850"/>
          </a:xfrm>
          <a:prstGeom prst="rect">
            <a:avLst/>
          </a:prstGeom>
        </p:spPr>
      </p:pic>
      <p:pic>
        <p:nvPicPr>
          <p:cNvPr id="8" name="Layer 9" descr="s3_l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3625" y="323850"/>
            <a:ext cx="1095375" cy="1071033"/>
          </a:xfrm>
          <a:prstGeom prst="rect">
            <a:avLst/>
          </a:prstGeom>
        </p:spPr>
      </p:pic>
      <p:grpSp>
        <p:nvGrpSpPr>
          <p:cNvPr id="9" name="Group 1"/>
          <p:cNvGrpSpPr/>
          <p:nvPr/>
        </p:nvGrpSpPr>
        <p:grpSpPr>
          <a:xfrm>
            <a:off x="11348038" y="1793903"/>
            <a:ext cx="7356160" cy="3321246"/>
            <a:chOff x="8496300" y="1266825"/>
            <a:chExt cx="10151797" cy="4800600"/>
          </a:xfrm>
        </p:grpSpPr>
        <p:pic>
          <p:nvPicPr>
            <p:cNvPr id="10" name="صوره" descr="s3_l8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96300" y="1266825"/>
              <a:ext cx="10151797" cy="4800600"/>
            </a:xfrm>
            <a:prstGeom prst="rect">
              <a:avLst/>
            </a:prstGeom>
          </p:spPr>
        </p:pic>
        <p:pic>
          <p:nvPicPr>
            <p:cNvPr id="11" name="Layer 10" descr="s3_l9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744700" y="3228975"/>
              <a:ext cx="1009650" cy="552450"/>
            </a:xfrm>
            <a:prstGeom prst="rect">
              <a:avLst/>
            </a:prstGeom>
          </p:spPr>
        </p:pic>
      </p:grpSp>
      <p:pic>
        <p:nvPicPr>
          <p:cNvPr id="20" name="Layer 5" descr="s1_l1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42153" y="23259"/>
            <a:ext cx="2533650" cy="2171700"/>
          </a:xfrm>
          <a:prstGeom prst="rect">
            <a:avLst/>
          </a:prstGeom>
        </p:spPr>
      </p:pic>
      <p:pic>
        <p:nvPicPr>
          <p:cNvPr id="21" name="Layer 6" descr="s1_l1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38100" y="0"/>
            <a:ext cx="2305050" cy="1447800"/>
          </a:xfrm>
          <a:prstGeom prst="rect">
            <a:avLst/>
          </a:prstGeom>
        </p:spPr>
      </p:pic>
      <p:sp>
        <p:nvSpPr>
          <p:cNvPr id="3002" name="section-title">
            <a:extLst>
              <a:ext uri="{FF2B5EF4-FFF2-40B4-BE49-F238E27FC236}">
                <a16:creationId xmlns:a16="http://schemas.microsoft.com/office/drawing/2014/main" id="{003A6253-7FC3-4440-8863-50AD497345C9}"/>
              </a:ext>
            </a:extLst>
          </p:cNvPr>
          <p:cNvSpPr>
            <a:spLocks noGrp="1"/>
          </p:cNvSpPr>
          <p:nvPr/>
        </p:nvSpPr>
        <p:spPr>
          <a:xfrm>
            <a:off x="3524250" y="447675"/>
            <a:ext cx="11906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825" b="1">
                <a:solidFill>
                  <a:srgbClr val="0D2947"/>
                </a:solidFill>
                <a:latin typeface="Dubai"/>
                <a:ea typeface="Dubai"/>
                <a:cs typeface="Dubai"/>
              </a:defRPr>
            </a:pPr>
            <a:r>
              <a:rPr sz="3825" b="1">
                <a:solidFill>
                  <a:srgbClr val="0D2947"/>
                </a:solidFill>
                <a:latin typeface="Dubai"/>
                <a:ea typeface="Dubai"/>
                <a:cs typeface="Dubai"/>
              </a:rPr>
              <a:t>2. Clinical Care &amp; Clinics</a:t>
            </a:r>
          </a:p>
        </p:txBody>
      </p:sp>
      <p:sp>
        <p:nvSpPr>
          <p:cNvPr id="3003" name="section-subtitle">
            <a:extLst>
              <a:ext uri="{FF2B5EF4-FFF2-40B4-BE49-F238E27FC236}">
                <a16:creationId xmlns:a16="http://schemas.microsoft.com/office/drawing/2014/main" id="{E5557922-A62C-4273-98C8-2C15D1BDD7E7}"/>
              </a:ext>
            </a:extLst>
          </p:cNvPr>
          <p:cNvSpPr>
            <a:spLocks noGrp="1"/>
          </p:cNvSpPr>
          <p:nvPr/>
        </p:nvSpPr>
        <p:spPr>
          <a:xfrm>
            <a:off x="2381250" y="1419225"/>
            <a:ext cx="11287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1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Assessment, treatment decisions and continuing care</a:t>
            </a:r>
          </a:p>
        </p:txBody>
      </p:sp>
      <p:sp>
        <p:nvSpPr>
          <p:cNvPr id="3004" name="feature-0-heading">
            <a:extLst>
              <a:ext uri="{FF2B5EF4-FFF2-40B4-BE49-F238E27FC236}">
                <a16:creationId xmlns:a16="http://schemas.microsoft.com/office/drawing/2014/main" id="{B0D31309-8357-48EF-B4D4-E204001A11A6}"/>
              </a:ext>
            </a:extLst>
          </p:cNvPr>
          <p:cNvSpPr>
            <a:spLocks noGrp="1"/>
          </p:cNvSpPr>
          <p:nvPr/>
        </p:nvSpPr>
        <p:spPr>
          <a:xfrm>
            <a:off x="2381250" y="23241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Assessment &amp; treatment drafts</a:t>
            </a:r>
          </a:p>
        </p:txBody>
      </p:sp>
      <p:sp>
        <p:nvSpPr>
          <p:cNvPr id="3005" name="feature-0-body">
            <a:extLst>
              <a:ext uri="{FF2B5EF4-FFF2-40B4-BE49-F238E27FC236}">
                <a16:creationId xmlns:a16="http://schemas.microsoft.com/office/drawing/2014/main" id="{AAA6EB9A-BDCB-4051-9F89-FCFE14334D38}"/>
              </a:ext>
            </a:extLst>
          </p:cNvPr>
          <p:cNvSpPr>
            <a:spLocks noGrp="1"/>
          </p:cNvSpPr>
          <p:nvPr/>
        </p:nvSpPr>
        <p:spPr>
          <a:xfrm>
            <a:off x="2381250" y="27432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Record symptoms, findings and diagnosis.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Save assessments and treatment drafts.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Review vitals, labs and eligibility evidence.</a:t>
            </a:r>
          </a:p>
        </p:txBody>
      </p:sp>
      <p:sp>
        <p:nvSpPr>
          <p:cNvPr id="3006" name="feature-1-heading">
            <a:extLst>
              <a:ext uri="{FF2B5EF4-FFF2-40B4-BE49-F238E27FC236}">
                <a16:creationId xmlns:a16="http://schemas.microsoft.com/office/drawing/2014/main" id="{12316532-C30D-4B7D-B9C5-FB293B9D8482}"/>
              </a:ext>
            </a:extLst>
          </p:cNvPr>
          <p:cNvSpPr>
            <a:spLocks noGrp="1"/>
          </p:cNvSpPr>
          <p:nvPr/>
        </p:nvSpPr>
        <p:spPr>
          <a:xfrm>
            <a:off x="7905750" y="23241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Detailed prescriptions</a:t>
            </a:r>
          </a:p>
        </p:txBody>
      </p:sp>
      <p:sp>
        <p:nvSpPr>
          <p:cNvPr id="3007" name="feature-1-body">
            <a:extLst>
              <a:ext uri="{FF2B5EF4-FFF2-40B4-BE49-F238E27FC236}">
                <a16:creationId xmlns:a16="http://schemas.microsoft.com/office/drawing/2014/main" id="{1EACC814-366E-4310-8CA3-3943A123E0E7}"/>
              </a:ext>
            </a:extLst>
          </p:cNvPr>
          <p:cNvSpPr>
            <a:spLocks noGrp="1"/>
          </p:cNvSpPr>
          <p:nvPr/>
        </p:nvSpPr>
        <p:spPr>
          <a:xfrm>
            <a:off x="7905750" y="27432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Set medication, strength and frequency,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duration, dates and instructions.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Document monitoring and follow-up.</a:t>
            </a:r>
          </a:p>
        </p:txBody>
      </p:sp>
      <p:sp>
        <p:nvSpPr>
          <p:cNvPr id="3008" name="feature-2-heading">
            <a:extLst>
              <a:ext uri="{FF2B5EF4-FFF2-40B4-BE49-F238E27FC236}">
                <a16:creationId xmlns:a16="http://schemas.microsoft.com/office/drawing/2014/main" id="{18B970F4-AA88-41C7-9133-2349DAA4CB97}"/>
              </a:ext>
            </a:extLst>
          </p:cNvPr>
          <p:cNvSpPr>
            <a:spLocks noGrp="1"/>
          </p:cNvSpPr>
          <p:nvPr/>
        </p:nvSpPr>
        <p:spPr>
          <a:xfrm>
            <a:off x="2381250" y="394335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Automatic or exception routing</a:t>
            </a:r>
          </a:p>
        </p:txBody>
      </p:sp>
      <p:sp>
        <p:nvSpPr>
          <p:cNvPr id="3009" name="feature-2-body">
            <a:extLst>
              <a:ext uri="{FF2B5EF4-FFF2-40B4-BE49-F238E27FC236}">
                <a16:creationId xmlns:a16="http://schemas.microsoft.com/office/drawing/2014/main" id="{D7C2EC6D-7134-47F1-B3DD-E07D7E7EFE73}"/>
              </a:ext>
            </a:extLst>
          </p:cNvPr>
          <p:cNvSpPr>
            <a:spLocks noGrp="1"/>
          </p:cNvSpPr>
          <p:nvPr/>
        </p:nvSpPr>
        <p:spPr>
          <a:xfrm>
            <a:off x="2381250" y="436245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Eligible submitted requests go directly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to the pharmacy verification queue.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Exceptions require a doctor’s rationale.</a:t>
            </a:r>
          </a:p>
        </p:txBody>
      </p:sp>
      <p:sp>
        <p:nvSpPr>
          <p:cNvPr id="3010" name="feature-3-heading">
            <a:extLst>
              <a:ext uri="{FF2B5EF4-FFF2-40B4-BE49-F238E27FC236}">
                <a16:creationId xmlns:a16="http://schemas.microsoft.com/office/drawing/2014/main" id="{65DF6950-3655-4BA3-B0A7-52DA0A29799D}"/>
              </a:ext>
            </a:extLst>
          </p:cNvPr>
          <p:cNvSpPr>
            <a:spLocks noGrp="1"/>
          </p:cNvSpPr>
          <p:nvPr/>
        </p:nvSpPr>
        <p:spPr>
          <a:xfrm>
            <a:off x="7905750" y="394335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Independent clinical review</a:t>
            </a:r>
          </a:p>
        </p:txBody>
      </p:sp>
      <p:sp>
        <p:nvSpPr>
          <p:cNvPr id="3011" name="feature-3-body">
            <a:extLst>
              <a:ext uri="{FF2B5EF4-FFF2-40B4-BE49-F238E27FC236}">
                <a16:creationId xmlns:a16="http://schemas.microsoft.com/office/drawing/2014/main" id="{A1A8AF1F-7421-4A18-8D16-4D97D524D165}"/>
              </a:ext>
            </a:extLst>
          </p:cNvPr>
          <p:cNvSpPr>
            <a:spLocks noGrp="1"/>
          </p:cNvSpPr>
          <p:nvPr/>
        </p:nvSpPr>
        <p:spPr>
          <a:xfrm>
            <a:off x="7905750" y="436245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Approve, reject or request more evidence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with a documented reason. Clinicians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complete information and resubmit.</a:t>
            </a:r>
          </a:p>
        </p:txBody>
      </p:sp>
      <p:sp>
        <p:nvSpPr>
          <p:cNvPr id="3012" name="feature-4-heading">
            <a:extLst>
              <a:ext uri="{FF2B5EF4-FFF2-40B4-BE49-F238E27FC236}">
                <a16:creationId xmlns:a16="http://schemas.microsoft.com/office/drawing/2014/main" id="{F9AD7B64-433E-4455-A6AE-85A2D86BEFBB}"/>
              </a:ext>
            </a:extLst>
          </p:cNvPr>
          <p:cNvSpPr>
            <a:spLocks noGrp="1"/>
          </p:cNvSpPr>
          <p:nvPr/>
        </p:nvSpPr>
        <p:spPr>
          <a:xfrm>
            <a:off x="2381250" y="55626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Integrated care plans</a:t>
            </a:r>
          </a:p>
        </p:txBody>
      </p:sp>
      <p:sp>
        <p:nvSpPr>
          <p:cNvPr id="3013" name="feature-4-body">
            <a:extLst>
              <a:ext uri="{FF2B5EF4-FFF2-40B4-BE49-F238E27FC236}">
                <a16:creationId xmlns:a16="http://schemas.microsoft.com/office/drawing/2014/main" id="{9EE0A1D8-F93D-4735-B918-68B2BFB1AAD5}"/>
              </a:ext>
            </a:extLst>
          </p:cNvPr>
          <p:cNvSpPr>
            <a:spLocks noGrp="1"/>
          </p:cNvSpPr>
          <p:nvPr/>
        </p:nvSpPr>
        <p:spPr>
          <a:xfrm>
            <a:off x="2381250" y="59817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Combine medication, rehabilitation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prescribed home exercises.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Support rehabilitation-only plans too.</a:t>
            </a:r>
          </a:p>
        </p:txBody>
      </p:sp>
      <p:sp>
        <p:nvSpPr>
          <p:cNvPr id="3014" name="feature-5-heading">
            <a:extLst>
              <a:ext uri="{FF2B5EF4-FFF2-40B4-BE49-F238E27FC236}">
                <a16:creationId xmlns:a16="http://schemas.microsoft.com/office/drawing/2014/main" id="{1A323068-385F-47AA-905E-8490FB4C238A}"/>
              </a:ext>
            </a:extLst>
          </p:cNvPr>
          <p:cNvSpPr>
            <a:spLocks noGrp="1"/>
          </p:cNvSpPr>
          <p:nvPr/>
        </p:nvSpPr>
        <p:spPr>
          <a:xfrm>
            <a:off x="7905750" y="55626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Appointments &amp; completion</a:t>
            </a:r>
          </a:p>
        </p:txBody>
      </p:sp>
      <p:sp>
        <p:nvSpPr>
          <p:cNvPr id="3015" name="feature-5-body">
            <a:extLst>
              <a:ext uri="{FF2B5EF4-FFF2-40B4-BE49-F238E27FC236}">
                <a16:creationId xmlns:a16="http://schemas.microsoft.com/office/drawing/2014/main" id="{616FF163-39A6-472B-B1D2-DB89BD7192EE}"/>
              </a:ext>
            </a:extLst>
          </p:cNvPr>
          <p:cNvSpPr>
            <a:spLocks noGrp="1"/>
          </p:cNvSpPr>
          <p:nvPr/>
        </p:nvSpPr>
        <p:spPr>
          <a:xfrm>
            <a:off x="7905750" y="59817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Schedule, confirm, cancel and reschedule.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Track attendance and prevent conflicts.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Close treatment with a follow-up summary.</a:t>
            </a:r>
          </a:p>
        </p:txBody>
      </p:sp>
      <p:sp>
        <p:nvSpPr>
          <p:cNvPr id="3016" name="rail-0-heading">
            <a:extLst>
              <a:ext uri="{FF2B5EF4-FFF2-40B4-BE49-F238E27FC236}">
                <a16:creationId xmlns:a16="http://schemas.microsoft.com/office/drawing/2014/main" id="{6F75A307-F127-47CF-AA49-AC179FE43015}"/>
              </a:ext>
            </a:extLst>
          </p:cNvPr>
          <p:cNvSpPr>
            <a:spLocks noGrp="1"/>
          </p:cNvSpPr>
          <p:nvPr/>
        </p:nvSpPr>
        <p:spPr>
          <a:xfrm>
            <a:off x="13430250" y="468630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02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Rehabilitation delivery</a:t>
            </a:r>
          </a:p>
        </p:txBody>
      </p:sp>
      <p:sp>
        <p:nvSpPr>
          <p:cNvPr id="3017" name="rail-0-body">
            <a:extLst>
              <a:ext uri="{FF2B5EF4-FFF2-40B4-BE49-F238E27FC236}">
                <a16:creationId xmlns:a16="http://schemas.microsoft.com/office/drawing/2014/main" id="{62B4501B-7DE3-41DE-9DD5-07FAEBCB1F4E}"/>
              </a:ext>
            </a:extLst>
          </p:cNvPr>
          <p:cNvSpPr>
            <a:spLocks noGrp="1"/>
          </p:cNvSpPr>
          <p:nvPr/>
        </p:nvSpPr>
        <p:spPr>
          <a:xfrm>
            <a:off x="13430250" y="5076825"/>
            <a:ext cx="41910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Programme, centre and sessions.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Record completion and progress.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Keep notes linked to the care plan.</a:t>
            </a:r>
          </a:p>
        </p:txBody>
      </p:sp>
      <p:sp>
        <p:nvSpPr>
          <p:cNvPr id="3018" name="rail-1-heading">
            <a:extLst>
              <a:ext uri="{FF2B5EF4-FFF2-40B4-BE49-F238E27FC236}">
                <a16:creationId xmlns:a16="http://schemas.microsoft.com/office/drawing/2014/main" id="{7BCDAB37-5DF1-455A-BA1B-CF3FCF2FEDD1}"/>
              </a:ext>
            </a:extLst>
          </p:cNvPr>
          <p:cNvSpPr>
            <a:spLocks noGrp="1"/>
          </p:cNvSpPr>
          <p:nvPr/>
        </p:nvSpPr>
        <p:spPr>
          <a:xfrm>
            <a:off x="13430250" y="60769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02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Plan review</a:t>
            </a:r>
          </a:p>
        </p:txBody>
      </p:sp>
      <p:sp>
        <p:nvSpPr>
          <p:cNvPr id="3019" name="rail-1-body">
            <a:extLst>
              <a:ext uri="{FF2B5EF4-FFF2-40B4-BE49-F238E27FC236}">
                <a16:creationId xmlns:a16="http://schemas.microsoft.com/office/drawing/2014/main" id="{2E38702E-D2D6-4800-BDDC-5FEE893C7642}"/>
              </a:ext>
            </a:extLst>
          </p:cNvPr>
          <p:cNvSpPr>
            <a:spLocks noGrp="1"/>
          </p:cNvSpPr>
          <p:nvPr/>
        </p:nvSpPr>
        <p:spPr>
          <a:xfrm>
            <a:off x="13430250" y="6467475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Check evidence and capacity.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Review completeness and guidance.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Record doctor confirmation.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1_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097500" cy="7620000"/>
          </a:xfrm>
          <a:prstGeom prst="rect">
            <a:avLst/>
          </a:prstGeom>
        </p:spPr>
      </p:pic>
      <p:sp>
        <p:nvSpPr>
          <p:cNvPr id="3" name="Rectangle 1"/>
          <p:cNvSpPr/>
          <p:nvPr/>
        </p:nvSpPr>
        <p:spPr>
          <a:xfrm>
            <a:off x="-176997" y="-38101"/>
            <a:ext cx="18274497" cy="7829551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pic>
        <p:nvPicPr>
          <p:cNvPr id="4" name="Layer 1" descr="s1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" y="142875"/>
            <a:ext cx="3219450" cy="1971675"/>
          </a:xfrm>
          <a:prstGeom prst="rect">
            <a:avLst/>
          </a:prstGeom>
        </p:spPr>
      </p:pic>
      <p:pic>
        <p:nvPicPr>
          <p:cNvPr id="5" name="Layer 3" descr="s1_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5695950"/>
            <a:ext cx="2171700" cy="1847850"/>
          </a:xfrm>
          <a:prstGeom prst="rect">
            <a:avLst/>
          </a:prstGeom>
        </p:spPr>
      </p:pic>
      <p:pic>
        <p:nvPicPr>
          <p:cNvPr id="6" name="Layer 10" descr="s4_l4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13904690" y="1898523"/>
            <a:ext cx="1230725" cy="2475357"/>
          </a:xfrm>
          <a:prstGeom prst="rect">
            <a:avLst/>
          </a:prstGeom>
        </p:spPr>
      </p:pic>
      <p:pic>
        <p:nvPicPr>
          <p:cNvPr id="7" name="صوره" descr="s4_l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8819" y="1898523"/>
            <a:ext cx="7669435" cy="4158043"/>
          </a:xfrm>
          <a:prstGeom prst="rect">
            <a:avLst/>
          </a:prstGeom>
        </p:spPr>
      </p:pic>
      <p:pic>
        <p:nvPicPr>
          <p:cNvPr id="8" name="Layer 9" descr="s4_l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323850"/>
            <a:ext cx="1095375" cy="923245"/>
          </a:xfrm>
          <a:prstGeom prst="rect">
            <a:avLst/>
          </a:prstGeom>
        </p:spPr>
      </p:pic>
      <p:pic>
        <p:nvPicPr>
          <p:cNvPr id="17" name="Layer 5" descr="s1_l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33649" y="-18245"/>
            <a:ext cx="2533650" cy="2171700"/>
          </a:xfrm>
          <a:prstGeom prst="rect">
            <a:avLst/>
          </a:prstGeom>
        </p:spPr>
      </p:pic>
      <p:pic>
        <p:nvPicPr>
          <p:cNvPr id="18" name="Layer 6" descr="s1_l1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48722" y="-45952"/>
            <a:ext cx="2305050" cy="1447800"/>
          </a:xfrm>
          <a:prstGeom prst="rect">
            <a:avLst/>
          </a:prstGeom>
        </p:spPr>
      </p:pic>
      <p:sp>
        <p:nvSpPr>
          <p:cNvPr id="3002" name="section-title">
            <a:extLst>
              <a:ext uri="{FF2B5EF4-FFF2-40B4-BE49-F238E27FC236}">
                <a16:creationId xmlns:a16="http://schemas.microsoft.com/office/drawing/2014/main" id="{CA54454F-4639-4071-ADAF-6C28A0F5024F}"/>
              </a:ext>
            </a:extLst>
          </p:cNvPr>
          <p:cNvSpPr>
            <a:spLocks noGrp="1"/>
          </p:cNvSpPr>
          <p:nvPr/>
        </p:nvSpPr>
        <p:spPr>
          <a:xfrm>
            <a:off x="3524250" y="447675"/>
            <a:ext cx="11906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825" b="1">
                <a:solidFill>
                  <a:srgbClr val="0D2947"/>
                </a:solidFill>
                <a:latin typeface="Dubai"/>
                <a:ea typeface="Dubai"/>
                <a:cs typeface="Dubai"/>
              </a:defRPr>
            </a:pPr>
            <a:r>
              <a:rPr sz="3825" b="1">
                <a:solidFill>
                  <a:srgbClr val="0D2947"/>
                </a:solidFill>
                <a:latin typeface="Dubai"/>
                <a:ea typeface="Dubai"/>
                <a:cs typeface="Dubai"/>
              </a:rPr>
              <a:t>3. Pharmacy &amp; Safe Dispensing</a:t>
            </a:r>
          </a:p>
        </p:txBody>
      </p:sp>
      <p:sp>
        <p:nvSpPr>
          <p:cNvPr id="3003" name="section-subtitle">
            <a:extLst>
              <a:ext uri="{FF2B5EF4-FFF2-40B4-BE49-F238E27FC236}">
                <a16:creationId xmlns:a16="http://schemas.microsoft.com/office/drawing/2014/main" id="{97E7B1FD-248A-44E3-964C-BFFABE5852ED}"/>
              </a:ext>
            </a:extLst>
          </p:cNvPr>
          <p:cNvSpPr>
            <a:spLocks noGrp="1"/>
          </p:cNvSpPr>
          <p:nvPr/>
        </p:nvSpPr>
        <p:spPr>
          <a:xfrm>
            <a:off x="2381250" y="1419225"/>
            <a:ext cx="11287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1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Prescription checks, stock allocation and patient collection</a:t>
            </a:r>
          </a:p>
        </p:txBody>
      </p:sp>
      <p:sp>
        <p:nvSpPr>
          <p:cNvPr id="3004" name="feature-0-heading">
            <a:extLst>
              <a:ext uri="{FF2B5EF4-FFF2-40B4-BE49-F238E27FC236}">
                <a16:creationId xmlns:a16="http://schemas.microsoft.com/office/drawing/2014/main" id="{2E190531-D966-4933-BBC9-6046AA75945A}"/>
              </a:ext>
            </a:extLst>
          </p:cNvPr>
          <p:cNvSpPr>
            <a:spLocks noGrp="1"/>
          </p:cNvSpPr>
          <p:nvPr/>
        </p:nvSpPr>
        <p:spPr>
          <a:xfrm>
            <a:off x="2381250" y="23241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Verification before dispensing</a:t>
            </a:r>
          </a:p>
        </p:txBody>
      </p:sp>
      <p:sp>
        <p:nvSpPr>
          <p:cNvPr id="3005" name="feature-0-body">
            <a:extLst>
              <a:ext uri="{FF2B5EF4-FFF2-40B4-BE49-F238E27FC236}">
                <a16:creationId xmlns:a16="http://schemas.microsoft.com/office/drawing/2014/main" id="{5B7EEFB8-0C56-4FC1-9981-90C0DBE2E7D8}"/>
              </a:ext>
            </a:extLst>
          </p:cNvPr>
          <p:cNvSpPr>
            <a:spLocks noGrp="1"/>
          </p:cNvSpPr>
          <p:nvPr/>
        </p:nvSpPr>
        <p:spPr>
          <a:xfrm>
            <a:off x="2381250" y="27432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Confirm patient identity, prescription,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approval validity, medication and dose.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Check required clinical evidence.</a:t>
            </a:r>
          </a:p>
        </p:txBody>
      </p:sp>
      <p:sp>
        <p:nvSpPr>
          <p:cNvPr id="3006" name="feature-1-heading">
            <a:extLst>
              <a:ext uri="{FF2B5EF4-FFF2-40B4-BE49-F238E27FC236}">
                <a16:creationId xmlns:a16="http://schemas.microsoft.com/office/drawing/2014/main" id="{2E8C27D4-A2C4-4A5D-835B-5A3662F2419A}"/>
              </a:ext>
            </a:extLst>
          </p:cNvPr>
          <p:cNvSpPr>
            <a:spLocks noGrp="1"/>
          </p:cNvSpPr>
          <p:nvPr/>
        </p:nvSpPr>
        <p:spPr>
          <a:xfrm>
            <a:off x="7905750" y="23241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Refill and duplicate controls</a:t>
            </a:r>
          </a:p>
        </p:txBody>
      </p:sp>
      <p:sp>
        <p:nvSpPr>
          <p:cNvPr id="3007" name="feature-1-body">
            <a:extLst>
              <a:ext uri="{FF2B5EF4-FFF2-40B4-BE49-F238E27FC236}">
                <a16:creationId xmlns:a16="http://schemas.microsoft.com/office/drawing/2014/main" id="{CA0CAE39-95AB-4693-8F9B-A4A846305E05}"/>
              </a:ext>
            </a:extLst>
          </p:cNvPr>
          <p:cNvSpPr>
            <a:spLocks noGrp="1"/>
          </p:cNvSpPr>
          <p:nvPr/>
        </p:nvSpPr>
        <p:spPr>
          <a:xfrm>
            <a:off x="7905750" y="27432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Check the last and next eligible dispense.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Block duplicate or early dispensing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unless a documented exception applies.</a:t>
            </a:r>
          </a:p>
        </p:txBody>
      </p:sp>
      <p:sp>
        <p:nvSpPr>
          <p:cNvPr id="3008" name="feature-2-heading">
            <a:extLst>
              <a:ext uri="{FF2B5EF4-FFF2-40B4-BE49-F238E27FC236}">
                <a16:creationId xmlns:a16="http://schemas.microsoft.com/office/drawing/2014/main" id="{91C9FCDB-6E0E-4685-A0DC-818ABBE1A494}"/>
              </a:ext>
            </a:extLst>
          </p:cNvPr>
          <p:cNvSpPr>
            <a:spLocks noGrp="1"/>
          </p:cNvSpPr>
          <p:nvPr/>
        </p:nvSpPr>
        <p:spPr>
          <a:xfrm>
            <a:off x="2381250" y="394335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Valid stock allocation</a:t>
            </a:r>
          </a:p>
        </p:txBody>
      </p:sp>
      <p:sp>
        <p:nvSpPr>
          <p:cNvPr id="3009" name="feature-2-body">
            <a:extLst>
              <a:ext uri="{FF2B5EF4-FFF2-40B4-BE49-F238E27FC236}">
                <a16:creationId xmlns:a16="http://schemas.microsoft.com/office/drawing/2014/main" id="{E118DF96-313D-40B5-8D7B-D2D1A49A80CB}"/>
              </a:ext>
            </a:extLst>
          </p:cNvPr>
          <p:cNvSpPr>
            <a:spLocks noGrp="1"/>
          </p:cNvSpPr>
          <p:nvPr/>
        </p:nvSpPr>
        <p:spPr>
          <a:xfrm>
            <a:off x="2381250" y="436245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Reserve stock for ready requests.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Exclude expired batches and prioritise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the earliest valid expiry for dispensing.</a:t>
            </a:r>
          </a:p>
        </p:txBody>
      </p:sp>
      <p:sp>
        <p:nvSpPr>
          <p:cNvPr id="3010" name="feature-3-heading">
            <a:extLst>
              <a:ext uri="{FF2B5EF4-FFF2-40B4-BE49-F238E27FC236}">
                <a16:creationId xmlns:a16="http://schemas.microsoft.com/office/drawing/2014/main" id="{D8305F2F-679C-4DC6-86E2-8135F22A9093}"/>
              </a:ext>
            </a:extLst>
          </p:cNvPr>
          <p:cNvSpPr>
            <a:spLocks noGrp="1"/>
          </p:cNvSpPr>
          <p:nvPr/>
        </p:nvSpPr>
        <p:spPr>
          <a:xfrm>
            <a:off x="7905750" y="394335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Coverage &amp; patient contribution</a:t>
            </a:r>
          </a:p>
        </p:txBody>
      </p:sp>
      <p:sp>
        <p:nvSpPr>
          <p:cNvPr id="3011" name="feature-3-body">
            <a:extLst>
              <a:ext uri="{FF2B5EF4-FFF2-40B4-BE49-F238E27FC236}">
                <a16:creationId xmlns:a16="http://schemas.microsoft.com/office/drawing/2014/main" id="{06E41AC5-65AA-4713-B7C4-2833C87BE075}"/>
              </a:ext>
            </a:extLst>
          </p:cNvPr>
          <p:cNvSpPr>
            <a:spLocks noGrp="1"/>
          </p:cNvSpPr>
          <p:nvPr/>
        </p:nvSpPr>
        <p:spPr>
          <a:xfrm>
            <a:off x="7905750" y="436245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Calculate support by patient category.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Separate medication collection from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rehabilitation costs in the care estimate.</a:t>
            </a:r>
          </a:p>
        </p:txBody>
      </p:sp>
      <p:sp>
        <p:nvSpPr>
          <p:cNvPr id="3012" name="feature-4-heading">
            <a:extLst>
              <a:ext uri="{FF2B5EF4-FFF2-40B4-BE49-F238E27FC236}">
                <a16:creationId xmlns:a16="http://schemas.microsoft.com/office/drawing/2014/main" id="{F6AB60E1-AEAB-44B7-9F67-021782A91DB0}"/>
              </a:ext>
            </a:extLst>
          </p:cNvPr>
          <p:cNvSpPr>
            <a:spLocks noGrp="1"/>
          </p:cNvSpPr>
          <p:nvPr/>
        </p:nvSpPr>
        <p:spPr>
          <a:xfrm>
            <a:off x="2381250" y="55626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Checkout &amp; collection records</a:t>
            </a:r>
          </a:p>
        </p:txBody>
      </p:sp>
      <p:sp>
        <p:nvSpPr>
          <p:cNvPr id="3013" name="feature-4-body">
            <a:extLst>
              <a:ext uri="{FF2B5EF4-FFF2-40B4-BE49-F238E27FC236}">
                <a16:creationId xmlns:a16="http://schemas.microsoft.com/office/drawing/2014/main" id="{C33E3580-FC6A-4C22-8D04-8395B4BC779B}"/>
              </a:ext>
            </a:extLst>
          </p:cNvPr>
          <p:cNvSpPr>
            <a:spLocks noGrp="1"/>
          </p:cNvSpPr>
          <p:nvPr/>
        </p:nvSpPr>
        <p:spPr>
          <a:xfrm>
            <a:off x="2381250" y="59817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Record cash, card or covered collection.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Link the amount to the dispensing record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prevent duplicate collection entries.</a:t>
            </a:r>
          </a:p>
        </p:txBody>
      </p:sp>
      <p:sp>
        <p:nvSpPr>
          <p:cNvPr id="3014" name="feature-5-heading">
            <a:extLst>
              <a:ext uri="{FF2B5EF4-FFF2-40B4-BE49-F238E27FC236}">
                <a16:creationId xmlns:a16="http://schemas.microsoft.com/office/drawing/2014/main" id="{8A18D07B-1973-432E-AE2A-216E533F1636}"/>
              </a:ext>
            </a:extLst>
          </p:cNvPr>
          <p:cNvSpPr>
            <a:spLocks noGrp="1"/>
          </p:cNvSpPr>
          <p:nvPr/>
        </p:nvSpPr>
        <p:spPr>
          <a:xfrm>
            <a:off x="7905750" y="55626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Connected dispensing updates</a:t>
            </a:r>
          </a:p>
        </p:txBody>
      </p:sp>
      <p:sp>
        <p:nvSpPr>
          <p:cNvPr id="3015" name="feature-5-body">
            <a:extLst>
              <a:ext uri="{FF2B5EF4-FFF2-40B4-BE49-F238E27FC236}">
                <a16:creationId xmlns:a16="http://schemas.microsoft.com/office/drawing/2014/main" id="{49530A82-2283-417B-A3FE-7A7CCC04FE21}"/>
              </a:ext>
            </a:extLst>
          </p:cNvPr>
          <p:cNvSpPr>
            <a:spLocks noGrp="1"/>
          </p:cNvSpPr>
          <p:nvPr/>
        </p:nvSpPr>
        <p:spPr>
          <a:xfrm>
            <a:off x="7905750" y="59817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Update treatment, patient medication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batch stock together. Record the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movement, notification and audit trail.</a:t>
            </a:r>
          </a:p>
        </p:txBody>
      </p:sp>
      <p:sp>
        <p:nvSpPr>
          <p:cNvPr id="3016" name="rail-0-heading">
            <a:extLst>
              <a:ext uri="{FF2B5EF4-FFF2-40B4-BE49-F238E27FC236}">
                <a16:creationId xmlns:a16="http://schemas.microsoft.com/office/drawing/2014/main" id="{D1CE4B9E-AC5E-41A3-A343-E88373B99379}"/>
              </a:ext>
            </a:extLst>
          </p:cNvPr>
          <p:cNvSpPr>
            <a:spLocks noGrp="1"/>
          </p:cNvSpPr>
          <p:nvPr/>
        </p:nvSpPr>
        <p:spPr>
          <a:xfrm>
            <a:off x="13430250" y="468630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02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Prescription details</a:t>
            </a:r>
          </a:p>
        </p:txBody>
      </p:sp>
      <p:sp>
        <p:nvSpPr>
          <p:cNvPr id="3017" name="rail-0-body">
            <a:extLst>
              <a:ext uri="{FF2B5EF4-FFF2-40B4-BE49-F238E27FC236}">
                <a16:creationId xmlns:a16="http://schemas.microsoft.com/office/drawing/2014/main" id="{FC0D7994-96BD-40E8-985E-7BC17D21D379}"/>
              </a:ext>
            </a:extLst>
          </p:cNvPr>
          <p:cNvSpPr>
            <a:spLocks noGrp="1"/>
          </p:cNvSpPr>
          <p:nvPr/>
        </p:nvSpPr>
        <p:spPr>
          <a:xfrm>
            <a:off x="13430250" y="5076825"/>
            <a:ext cx="41910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Strength, frequency and duration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Start, end and follow-up dates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Instructions and monitoring</a:t>
            </a:r>
          </a:p>
        </p:txBody>
      </p:sp>
      <p:sp>
        <p:nvSpPr>
          <p:cNvPr id="3018" name="rail-1-heading">
            <a:extLst>
              <a:ext uri="{FF2B5EF4-FFF2-40B4-BE49-F238E27FC236}">
                <a16:creationId xmlns:a16="http://schemas.microsoft.com/office/drawing/2014/main" id="{6D2A2EFC-ACAA-4DDC-8B4F-288D8EE21281}"/>
              </a:ext>
            </a:extLst>
          </p:cNvPr>
          <p:cNvSpPr>
            <a:spLocks noGrp="1"/>
          </p:cNvSpPr>
          <p:nvPr/>
        </p:nvSpPr>
        <p:spPr>
          <a:xfrm>
            <a:off x="13430250" y="60769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02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Patient documents</a:t>
            </a:r>
          </a:p>
        </p:txBody>
      </p:sp>
      <p:sp>
        <p:nvSpPr>
          <p:cNvPr id="3019" name="rail-1-body">
            <a:extLst>
              <a:ext uri="{FF2B5EF4-FFF2-40B4-BE49-F238E27FC236}">
                <a16:creationId xmlns:a16="http://schemas.microsoft.com/office/drawing/2014/main" id="{14E88C96-7DA2-453F-A5D8-678D1B453BD7}"/>
              </a:ext>
            </a:extLst>
          </p:cNvPr>
          <p:cNvSpPr>
            <a:spLocks noGrp="1"/>
          </p:cNvSpPr>
          <p:nvPr/>
        </p:nvSpPr>
        <p:spPr>
          <a:xfrm>
            <a:off x="13430250" y="6467475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Print or download prescriptions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receipts with coverage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the patient contribution.</a:t>
            </a:r>
          </a:p>
        </p:txBody>
      </p:sp>
      <p:sp>
        <p:nvSpPr>
          <p:cNvPr id="3020" name="footer">
            <a:extLst>
              <a:ext uri="{FF2B5EF4-FFF2-40B4-BE49-F238E27FC236}">
                <a16:creationId xmlns:a16="http://schemas.microsoft.com/office/drawing/2014/main" id="{0EB8D03E-9B8C-4675-9903-AC827AFCECEF}"/>
              </a:ext>
            </a:extLst>
          </p:cNvPr>
          <p:cNvSpPr>
            <a:spLocks noGrp="1"/>
          </p:cNvSpPr>
          <p:nvPr/>
        </p:nvSpPr>
        <p:spPr>
          <a:xfrm>
            <a:off x="2381250" y="7258050"/>
            <a:ext cx="14954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388" b="0">
                <a:solidFill>
                  <a:srgbClr val="526572"/>
                </a:solidFill>
                <a:latin typeface="Dubai Medium"/>
                <a:ea typeface="Dubai Medium"/>
                <a:cs typeface="Dubai Medium"/>
              </a:defRPr>
            </a:pPr>
            <a:r>
              <a:rPr sz="1388" b="0">
                <a:solidFill>
                  <a:srgbClr val="526572"/>
                </a:solidFill>
                <a:latin typeface="Dubai Medium"/>
                <a:ea typeface="Dubai Medium"/>
                <a:cs typeface="Dubai Medium"/>
              </a:rPr>
              <a:t>Collection receipts preserve the amount, coverage, method and dispensing reference.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1_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097500" cy="7620000"/>
          </a:xfrm>
          <a:prstGeom prst="rect">
            <a:avLst/>
          </a:prstGeom>
        </p:spPr>
      </p:pic>
      <p:sp>
        <p:nvSpPr>
          <p:cNvPr id="3" name="Rectangle 1"/>
          <p:cNvSpPr/>
          <p:nvPr/>
        </p:nvSpPr>
        <p:spPr>
          <a:xfrm>
            <a:off x="-38100" y="0"/>
            <a:ext cx="18135600" cy="7620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pic>
        <p:nvPicPr>
          <p:cNvPr id="4" name="Layer 1" descr="s1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" y="142875"/>
            <a:ext cx="3219450" cy="1971675"/>
          </a:xfrm>
          <a:prstGeom prst="rect">
            <a:avLst/>
          </a:prstGeom>
        </p:spPr>
      </p:pic>
      <p:pic>
        <p:nvPicPr>
          <p:cNvPr id="5" name="Layer 3" descr="s1_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5695950"/>
            <a:ext cx="2171700" cy="1847850"/>
          </a:xfrm>
          <a:prstGeom prst="rect">
            <a:avLst/>
          </a:prstGeom>
        </p:spPr>
      </p:pic>
      <p:pic>
        <p:nvPicPr>
          <p:cNvPr id="12" name="Layer 5" descr="s1_l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09081" y="-38100"/>
            <a:ext cx="2533650" cy="2171700"/>
          </a:xfrm>
          <a:prstGeom prst="rect">
            <a:avLst/>
          </a:prstGeom>
        </p:spPr>
      </p:pic>
      <p:pic>
        <p:nvPicPr>
          <p:cNvPr id="13" name="Layer 6" descr="s1_l1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8100" y="0"/>
            <a:ext cx="2305050" cy="1447800"/>
          </a:xfrm>
          <a:prstGeom prst="rect">
            <a:avLst/>
          </a:prstGeom>
        </p:spPr>
      </p:pic>
      <p:grpSp>
        <p:nvGrpSpPr>
          <p:cNvPr id="19" name="Group 1"/>
          <p:cNvGrpSpPr/>
          <p:nvPr/>
        </p:nvGrpSpPr>
        <p:grpSpPr>
          <a:xfrm>
            <a:off x="11102340" y="1805940"/>
            <a:ext cx="6995160" cy="2872740"/>
            <a:chOff x="9353550" y="1543050"/>
            <a:chExt cx="8743950" cy="3590925"/>
          </a:xfrm>
        </p:grpSpPr>
        <p:pic>
          <p:nvPicPr>
            <p:cNvPr id="20" name="صوره" descr="s5_l18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353550" y="1543050"/>
              <a:ext cx="8743950" cy="3590925"/>
            </a:xfrm>
            <a:prstGeom prst="rect">
              <a:avLst/>
            </a:prstGeom>
          </p:spPr>
        </p:pic>
        <p:pic>
          <p:nvPicPr>
            <p:cNvPr id="21" name="Layer 10" descr="s5_l19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6573500" y="2514600"/>
              <a:ext cx="1371600" cy="2228850"/>
            </a:xfrm>
            <a:prstGeom prst="rect">
              <a:avLst/>
            </a:prstGeom>
          </p:spPr>
        </p:pic>
      </p:grpSp>
      <p:pic>
        <p:nvPicPr>
          <p:cNvPr id="23" name="Layer 11" descr="s5_l2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33625" y="323850"/>
            <a:ext cx="1095375" cy="1046328"/>
          </a:xfrm>
          <a:prstGeom prst="rect">
            <a:avLst/>
          </a:prstGeom>
        </p:spPr>
      </p:pic>
      <p:sp>
        <p:nvSpPr>
          <p:cNvPr id="3002" name="section-title">
            <a:extLst>
              <a:ext uri="{FF2B5EF4-FFF2-40B4-BE49-F238E27FC236}">
                <a16:creationId xmlns:a16="http://schemas.microsoft.com/office/drawing/2014/main" id="{0B6D9DB2-E846-4CE4-947E-9A9CBA45484B}"/>
              </a:ext>
            </a:extLst>
          </p:cNvPr>
          <p:cNvSpPr>
            <a:spLocks noGrp="1"/>
          </p:cNvSpPr>
          <p:nvPr/>
        </p:nvSpPr>
        <p:spPr>
          <a:xfrm>
            <a:off x="3524250" y="447675"/>
            <a:ext cx="11906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825" b="1">
                <a:solidFill>
                  <a:srgbClr val="0D2947"/>
                </a:solidFill>
                <a:latin typeface="Dubai"/>
                <a:ea typeface="Dubai"/>
                <a:cs typeface="Dubai"/>
              </a:defRPr>
            </a:pPr>
            <a:r>
              <a:rPr sz="3825" b="1">
                <a:solidFill>
                  <a:srgbClr val="0D2947"/>
                </a:solidFill>
                <a:latin typeface="Dubai"/>
                <a:ea typeface="Dubai"/>
                <a:cs typeface="Dubai"/>
              </a:rPr>
              <a:t>4. Administration &amp; Governance</a:t>
            </a:r>
          </a:p>
        </p:txBody>
      </p:sp>
      <p:sp>
        <p:nvSpPr>
          <p:cNvPr id="3003" name="section-subtitle">
            <a:extLst>
              <a:ext uri="{FF2B5EF4-FFF2-40B4-BE49-F238E27FC236}">
                <a16:creationId xmlns:a16="http://schemas.microsoft.com/office/drawing/2014/main" id="{CFDCABB6-1B3C-458E-A38A-EFB9A88A890D}"/>
              </a:ext>
            </a:extLst>
          </p:cNvPr>
          <p:cNvSpPr>
            <a:spLocks noGrp="1"/>
          </p:cNvSpPr>
          <p:nvPr/>
        </p:nvSpPr>
        <p:spPr>
          <a:xfrm>
            <a:off x="2381250" y="1419225"/>
            <a:ext cx="11287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1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Programme statistics, operational control and accountable decisions</a:t>
            </a:r>
          </a:p>
        </p:txBody>
      </p:sp>
      <p:sp>
        <p:nvSpPr>
          <p:cNvPr id="3004" name="feature-0-heading">
            <a:extLst>
              <a:ext uri="{FF2B5EF4-FFF2-40B4-BE49-F238E27FC236}">
                <a16:creationId xmlns:a16="http://schemas.microsoft.com/office/drawing/2014/main" id="{877FD223-4562-4458-A76D-83FE50F48040}"/>
              </a:ext>
            </a:extLst>
          </p:cNvPr>
          <p:cNvSpPr>
            <a:spLocks noGrp="1"/>
          </p:cNvSpPr>
          <p:nvPr/>
        </p:nvSpPr>
        <p:spPr>
          <a:xfrm>
            <a:off x="2381250" y="23241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Programme statistics</a:t>
            </a:r>
          </a:p>
        </p:txBody>
      </p:sp>
      <p:sp>
        <p:nvSpPr>
          <p:cNvPr id="3005" name="feature-0-body">
            <a:extLst>
              <a:ext uri="{FF2B5EF4-FFF2-40B4-BE49-F238E27FC236}">
                <a16:creationId xmlns:a16="http://schemas.microsoft.com/office/drawing/2014/main" id="{A39A8946-7EA9-4ECE-8646-6FA7E63E3575}"/>
              </a:ext>
            </a:extLst>
          </p:cNvPr>
          <p:cNvSpPr>
            <a:spLocks noGrp="1"/>
          </p:cNvSpPr>
          <p:nvPr/>
        </p:nvSpPr>
        <p:spPr>
          <a:xfrm>
            <a:off x="2381250" y="27432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Enrolled and active patients, requests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awaiting review, upcoming appointments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medication availability indicators.</a:t>
            </a:r>
          </a:p>
        </p:txBody>
      </p:sp>
      <p:sp>
        <p:nvSpPr>
          <p:cNvPr id="3006" name="feature-1-heading">
            <a:extLst>
              <a:ext uri="{FF2B5EF4-FFF2-40B4-BE49-F238E27FC236}">
                <a16:creationId xmlns:a16="http://schemas.microsoft.com/office/drawing/2014/main" id="{36995446-5736-4463-AF7E-CD21E722599E}"/>
              </a:ext>
            </a:extLst>
          </p:cNvPr>
          <p:cNvSpPr>
            <a:spLocks noGrp="1"/>
          </p:cNvSpPr>
          <p:nvPr/>
        </p:nvSpPr>
        <p:spPr>
          <a:xfrm>
            <a:off x="7905750" y="23241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Safety &amp; operational alerts</a:t>
            </a:r>
          </a:p>
        </p:txBody>
      </p:sp>
      <p:sp>
        <p:nvSpPr>
          <p:cNvPr id="3007" name="feature-1-body">
            <a:extLst>
              <a:ext uri="{FF2B5EF4-FFF2-40B4-BE49-F238E27FC236}">
                <a16:creationId xmlns:a16="http://schemas.microsoft.com/office/drawing/2014/main" id="{7E82D5C6-BF7D-4737-B185-6134B16F0231}"/>
              </a:ext>
            </a:extLst>
          </p:cNvPr>
          <p:cNvSpPr>
            <a:spLocks noGrp="1"/>
          </p:cNvSpPr>
          <p:nvPr/>
        </p:nvSpPr>
        <p:spPr>
          <a:xfrm>
            <a:off x="7905750" y="27432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Prioritise safety and supply signals.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Create alerts, open related records and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mark selected alerts read or handled.</a:t>
            </a:r>
          </a:p>
        </p:txBody>
      </p:sp>
      <p:sp>
        <p:nvSpPr>
          <p:cNvPr id="3008" name="feature-2-heading">
            <a:extLst>
              <a:ext uri="{FF2B5EF4-FFF2-40B4-BE49-F238E27FC236}">
                <a16:creationId xmlns:a16="http://schemas.microsoft.com/office/drawing/2014/main" id="{984B5C68-4085-4F9D-8502-FB56AB88CCA3}"/>
              </a:ext>
            </a:extLst>
          </p:cNvPr>
          <p:cNvSpPr>
            <a:spLocks noGrp="1"/>
          </p:cNvSpPr>
          <p:nvPr/>
        </p:nvSpPr>
        <p:spPr>
          <a:xfrm>
            <a:off x="2381250" y="394335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Misuse review</a:t>
            </a:r>
          </a:p>
        </p:txBody>
      </p:sp>
      <p:sp>
        <p:nvSpPr>
          <p:cNvPr id="3009" name="feature-2-body">
            <a:extLst>
              <a:ext uri="{FF2B5EF4-FFF2-40B4-BE49-F238E27FC236}">
                <a16:creationId xmlns:a16="http://schemas.microsoft.com/office/drawing/2014/main" id="{647DB7B0-6C39-4A35-90E6-D576D5897493}"/>
              </a:ext>
            </a:extLst>
          </p:cNvPr>
          <p:cNvSpPr>
            <a:spLocks noGrp="1"/>
          </p:cNvSpPr>
          <p:nvPr/>
        </p:nvSpPr>
        <p:spPr>
          <a:xfrm>
            <a:off x="2381250" y="436245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Review duplicate requests, refill patterns,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identity mismatches and invalid approvals.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Keep evidence and resolution status.</a:t>
            </a:r>
          </a:p>
        </p:txBody>
      </p:sp>
      <p:sp>
        <p:nvSpPr>
          <p:cNvPr id="3010" name="feature-3-heading">
            <a:extLst>
              <a:ext uri="{FF2B5EF4-FFF2-40B4-BE49-F238E27FC236}">
                <a16:creationId xmlns:a16="http://schemas.microsoft.com/office/drawing/2014/main" id="{2AD1424E-A6AD-4089-9AA2-5629E2A1453D}"/>
              </a:ext>
            </a:extLst>
          </p:cNvPr>
          <p:cNvSpPr>
            <a:spLocks noGrp="1"/>
          </p:cNvSpPr>
          <p:nvPr/>
        </p:nvSpPr>
        <p:spPr>
          <a:xfrm>
            <a:off x="7905750" y="394335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Live activity &amp; system audit</a:t>
            </a:r>
          </a:p>
        </p:txBody>
      </p:sp>
      <p:sp>
        <p:nvSpPr>
          <p:cNvPr id="3011" name="feature-3-body">
            <a:extLst>
              <a:ext uri="{FF2B5EF4-FFF2-40B4-BE49-F238E27FC236}">
                <a16:creationId xmlns:a16="http://schemas.microsoft.com/office/drawing/2014/main" id="{6ACAFD99-77C5-42ED-A584-788289F38CCA}"/>
              </a:ext>
            </a:extLst>
          </p:cNvPr>
          <p:cNvSpPr>
            <a:spLocks noGrp="1"/>
          </p:cNvSpPr>
          <p:nvPr/>
        </p:nvSpPr>
        <p:spPr>
          <a:xfrm>
            <a:off x="7905750" y="436245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Follow clinical and dispensing activity.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Trace the actor, record, time and reason,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with previous and updated state.</a:t>
            </a:r>
          </a:p>
        </p:txBody>
      </p:sp>
      <p:sp>
        <p:nvSpPr>
          <p:cNvPr id="3012" name="feature-4-heading">
            <a:extLst>
              <a:ext uri="{FF2B5EF4-FFF2-40B4-BE49-F238E27FC236}">
                <a16:creationId xmlns:a16="http://schemas.microsoft.com/office/drawing/2014/main" id="{469BCE76-B1B4-43BA-AD25-5B2467C0B9BB}"/>
              </a:ext>
            </a:extLst>
          </p:cNvPr>
          <p:cNvSpPr>
            <a:spLocks noGrp="1"/>
          </p:cNvSpPr>
          <p:nvPr/>
        </p:nvSpPr>
        <p:spPr>
          <a:xfrm>
            <a:off x="2381250" y="55626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Reports &amp; saved snapshots</a:t>
            </a:r>
          </a:p>
        </p:txBody>
      </p:sp>
      <p:sp>
        <p:nvSpPr>
          <p:cNvPr id="3013" name="feature-4-body">
            <a:extLst>
              <a:ext uri="{FF2B5EF4-FFF2-40B4-BE49-F238E27FC236}">
                <a16:creationId xmlns:a16="http://schemas.microsoft.com/office/drawing/2014/main" id="{33379519-3A64-4E68-88E6-7AC40ABB4FA8}"/>
              </a:ext>
            </a:extLst>
          </p:cNvPr>
          <p:cNvSpPr>
            <a:spLocks noGrp="1"/>
          </p:cNvSpPr>
          <p:nvPr/>
        </p:nvSpPr>
        <p:spPr>
          <a:xfrm>
            <a:off x="2381250" y="59817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Filter by date, location and patient group.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Preview results, save a fixed snapshot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export the selected records.</a:t>
            </a:r>
          </a:p>
        </p:txBody>
      </p:sp>
      <p:sp>
        <p:nvSpPr>
          <p:cNvPr id="3014" name="feature-5-heading">
            <a:extLst>
              <a:ext uri="{FF2B5EF4-FFF2-40B4-BE49-F238E27FC236}">
                <a16:creationId xmlns:a16="http://schemas.microsoft.com/office/drawing/2014/main" id="{7A534241-DC7E-4881-BE07-6A62A96CF435}"/>
              </a:ext>
            </a:extLst>
          </p:cNvPr>
          <p:cNvSpPr>
            <a:spLocks noGrp="1"/>
          </p:cNvSpPr>
          <p:nvPr/>
        </p:nvSpPr>
        <p:spPr>
          <a:xfrm>
            <a:off x="7905750" y="55626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Role-based governance</a:t>
            </a:r>
          </a:p>
        </p:txBody>
      </p:sp>
      <p:sp>
        <p:nvSpPr>
          <p:cNvPr id="3015" name="feature-5-body">
            <a:extLst>
              <a:ext uri="{FF2B5EF4-FFF2-40B4-BE49-F238E27FC236}">
                <a16:creationId xmlns:a16="http://schemas.microsoft.com/office/drawing/2014/main" id="{90D8E7B0-9BA3-4C92-991B-650D265CF089}"/>
              </a:ext>
            </a:extLst>
          </p:cNvPr>
          <p:cNvSpPr>
            <a:spLocks noGrp="1"/>
          </p:cNvSpPr>
          <p:nvPr/>
        </p:nvSpPr>
        <p:spPr>
          <a:xfrm>
            <a:off x="7905750" y="59817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Separate Admin, Doctor, Reviewer,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Pharmacist and Patient responsibilities.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Limit records and actions to each role.</a:t>
            </a:r>
          </a:p>
        </p:txBody>
      </p:sp>
      <p:sp>
        <p:nvSpPr>
          <p:cNvPr id="3016" name="rail-0-heading">
            <a:extLst>
              <a:ext uri="{FF2B5EF4-FFF2-40B4-BE49-F238E27FC236}">
                <a16:creationId xmlns:a16="http://schemas.microsoft.com/office/drawing/2014/main" id="{FEB846FF-4831-47CD-85F1-B4EFA250FF2B}"/>
              </a:ext>
            </a:extLst>
          </p:cNvPr>
          <p:cNvSpPr>
            <a:spLocks noGrp="1"/>
          </p:cNvSpPr>
          <p:nvPr/>
        </p:nvSpPr>
        <p:spPr>
          <a:xfrm>
            <a:off x="13430250" y="468630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02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17 report views</a:t>
            </a:r>
          </a:p>
        </p:txBody>
      </p:sp>
      <p:sp>
        <p:nvSpPr>
          <p:cNvPr id="3017" name="rail-0-body">
            <a:extLst>
              <a:ext uri="{FF2B5EF4-FFF2-40B4-BE49-F238E27FC236}">
                <a16:creationId xmlns:a16="http://schemas.microsoft.com/office/drawing/2014/main" id="{7BDF28C8-1531-4127-A582-87022E48AAAC}"/>
              </a:ext>
            </a:extLst>
          </p:cNvPr>
          <p:cNvSpPr>
            <a:spLocks noGrp="1"/>
          </p:cNvSpPr>
          <p:nvPr/>
        </p:nvSpPr>
        <p:spPr>
          <a:xfrm>
            <a:off x="13430250" y="5076825"/>
            <a:ext cx="41910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Patients, care plans, rehabilitation,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requests, reviews, approvals, rejections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missing information.</a:t>
            </a:r>
          </a:p>
        </p:txBody>
      </p:sp>
      <p:sp>
        <p:nvSpPr>
          <p:cNvPr id="3018" name="rail-1-heading">
            <a:extLst>
              <a:ext uri="{FF2B5EF4-FFF2-40B4-BE49-F238E27FC236}">
                <a16:creationId xmlns:a16="http://schemas.microsoft.com/office/drawing/2014/main" id="{3455D6A0-F3C5-4FCD-B0FF-D8C1589CF89A}"/>
              </a:ext>
            </a:extLst>
          </p:cNvPr>
          <p:cNvSpPr>
            <a:spLocks noGrp="1"/>
          </p:cNvSpPr>
          <p:nvPr/>
        </p:nvSpPr>
        <p:spPr>
          <a:xfrm>
            <a:off x="13430250" y="60769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02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Operational reporting</a:t>
            </a:r>
          </a:p>
        </p:txBody>
      </p:sp>
      <p:sp>
        <p:nvSpPr>
          <p:cNvPr id="3019" name="rail-1-body">
            <a:extLst>
              <a:ext uri="{FF2B5EF4-FFF2-40B4-BE49-F238E27FC236}">
                <a16:creationId xmlns:a16="http://schemas.microsoft.com/office/drawing/2014/main" id="{75C9A628-AF5C-4396-8FDA-47CB8356DA4B}"/>
              </a:ext>
            </a:extLst>
          </p:cNvPr>
          <p:cNvSpPr>
            <a:spLocks noGrp="1"/>
          </p:cNvSpPr>
          <p:nvPr/>
        </p:nvSpPr>
        <p:spPr>
          <a:xfrm>
            <a:off x="13430250" y="6467475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Dispensing, inventory, low stock,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expiry, adherence, appointments,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finance, audit and activity.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1_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097500" cy="7620000"/>
          </a:xfrm>
          <a:prstGeom prst="rect">
            <a:avLst/>
          </a:prstGeom>
        </p:spPr>
      </p:pic>
      <p:sp>
        <p:nvSpPr>
          <p:cNvPr id="3" name="Rectangle 1"/>
          <p:cNvSpPr/>
          <p:nvPr/>
        </p:nvSpPr>
        <p:spPr>
          <a:xfrm>
            <a:off x="-38100" y="-104775"/>
            <a:ext cx="18278024" cy="7896226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pic>
        <p:nvPicPr>
          <p:cNvPr id="4" name="Layer 1" descr="s1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" y="142875"/>
            <a:ext cx="3219450" cy="1971675"/>
          </a:xfrm>
          <a:prstGeom prst="rect">
            <a:avLst/>
          </a:prstGeom>
        </p:spPr>
      </p:pic>
      <p:pic>
        <p:nvPicPr>
          <p:cNvPr id="5" name="Layer 3" descr="s1_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5695950"/>
            <a:ext cx="2171700" cy="1847850"/>
          </a:xfrm>
          <a:prstGeom prst="rect">
            <a:avLst/>
          </a:prstGeom>
        </p:spPr>
      </p:pic>
      <p:pic>
        <p:nvPicPr>
          <p:cNvPr id="11" name="Layer 5" descr="s1_l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63850" y="-104775"/>
            <a:ext cx="2533650" cy="2171700"/>
          </a:xfrm>
          <a:prstGeom prst="rect">
            <a:avLst/>
          </a:prstGeom>
        </p:spPr>
      </p:pic>
      <p:pic>
        <p:nvPicPr>
          <p:cNvPr id="12" name="Layer 6" descr="s1_l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8100" y="-89208"/>
            <a:ext cx="2305050" cy="1447800"/>
          </a:xfrm>
          <a:prstGeom prst="rect">
            <a:avLst/>
          </a:prstGeom>
        </p:spPr>
      </p:pic>
      <p:pic>
        <p:nvPicPr>
          <p:cNvPr id="16" name="Layer 9" descr="s6_l1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3625" y="323850"/>
            <a:ext cx="1095375" cy="1036694"/>
          </a:xfrm>
          <a:prstGeom prst="rect">
            <a:avLst/>
          </a:prstGeom>
        </p:spPr>
      </p:pic>
      <p:grpSp>
        <p:nvGrpSpPr>
          <p:cNvPr id="19" name="Group 1"/>
          <p:cNvGrpSpPr/>
          <p:nvPr/>
        </p:nvGrpSpPr>
        <p:grpSpPr>
          <a:xfrm>
            <a:off x="12576136" y="1284144"/>
            <a:ext cx="5748718" cy="5022628"/>
            <a:chOff x="9344025" y="314325"/>
            <a:chExt cx="9124950" cy="7972425"/>
          </a:xfrm>
        </p:grpSpPr>
        <p:pic>
          <p:nvPicPr>
            <p:cNvPr id="20" name="صوره" descr="s6_l18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344025" y="314325"/>
              <a:ext cx="9124950" cy="7972425"/>
            </a:xfrm>
            <a:prstGeom prst="rect">
              <a:avLst/>
            </a:prstGeom>
          </p:spPr>
        </p:pic>
        <p:pic>
          <p:nvPicPr>
            <p:cNvPr id="21" name="Layer 10" descr="s6_l19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049375" y="1752600"/>
              <a:ext cx="4191000" cy="3114675"/>
            </a:xfrm>
            <a:prstGeom prst="rect">
              <a:avLst/>
            </a:prstGeom>
          </p:spPr>
        </p:pic>
      </p:grpSp>
      <p:sp>
        <p:nvSpPr>
          <p:cNvPr id="3002" name="section-title">
            <a:extLst>
              <a:ext uri="{FF2B5EF4-FFF2-40B4-BE49-F238E27FC236}">
                <a16:creationId xmlns:a16="http://schemas.microsoft.com/office/drawing/2014/main" id="{9BD76E26-4956-4C7D-A2B3-B98C1E28E886}"/>
              </a:ext>
            </a:extLst>
          </p:cNvPr>
          <p:cNvSpPr>
            <a:spLocks noGrp="1"/>
          </p:cNvSpPr>
          <p:nvPr/>
        </p:nvSpPr>
        <p:spPr>
          <a:xfrm>
            <a:off x="3524250" y="447675"/>
            <a:ext cx="11906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825" b="1">
                <a:solidFill>
                  <a:srgbClr val="0D2947"/>
                </a:solidFill>
                <a:latin typeface="Dubai"/>
                <a:ea typeface="Dubai"/>
                <a:cs typeface="Dubai"/>
              </a:defRPr>
            </a:pPr>
            <a:r>
              <a:rPr sz="3825" b="1">
                <a:solidFill>
                  <a:srgbClr val="0D2947"/>
                </a:solidFill>
                <a:latin typeface="Dubai"/>
                <a:ea typeface="Dubai"/>
                <a:cs typeface="Dubai"/>
              </a:rPr>
              <a:t>5. Care Network &amp; Inventory</a:t>
            </a:r>
          </a:p>
        </p:txBody>
      </p:sp>
      <p:sp>
        <p:nvSpPr>
          <p:cNvPr id="3003" name="section-subtitle">
            <a:extLst>
              <a:ext uri="{FF2B5EF4-FFF2-40B4-BE49-F238E27FC236}">
                <a16:creationId xmlns:a16="http://schemas.microsoft.com/office/drawing/2014/main" id="{CC82D2E5-3796-4769-AD59-41E07929A2FE}"/>
              </a:ext>
            </a:extLst>
          </p:cNvPr>
          <p:cNvSpPr>
            <a:spLocks noGrp="1"/>
          </p:cNvSpPr>
          <p:nvPr/>
        </p:nvSpPr>
        <p:spPr>
          <a:xfrm>
            <a:off x="2381250" y="1419225"/>
            <a:ext cx="11287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1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Care access, organisation records and medication supply</a:t>
            </a:r>
          </a:p>
        </p:txBody>
      </p:sp>
      <p:sp>
        <p:nvSpPr>
          <p:cNvPr id="3004" name="feature-0-heading">
            <a:extLst>
              <a:ext uri="{FF2B5EF4-FFF2-40B4-BE49-F238E27FC236}">
                <a16:creationId xmlns:a16="http://schemas.microsoft.com/office/drawing/2014/main" id="{51953250-2026-44DD-99E4-99E1EFBDB337}"/>
              </a:ext>
            </a:extLst>
          </p:cNvPr>
          <p:cNvSpPr>
            <a:spLocks noGrp="1"/>
          </p:cNvSpPr>
          <p:nvPr/>
        </p:nvSpPr>
        <p:spPr>
          <a:xfrm>
            <a:off x="2381250" y="23241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Geographic care network</a:t>
            </a:r>
          </a:p>
        </p:txBody>
      </p:sp>
      <p:sp>
        <p:nvSpPr>
          <p:cNvPr id="3005" name="feature-0-body">
            <a:extLst>
              <a:ext uri="{FF2B5EF4-FFF2-40B4-BE49-F238E27FC236}">
                <a16:creationId xmlns:a16="http://schemas.microsoft.com/office/drawing/2014/main" id="{AD490F1A-A0C2-4939-83D9-3F0DF72579D2}"/>
              </a:ext>
            </a:extLst>
          </p:cNvPr>
          <p:cNvSpPr>
            <a:spLocks noGrp="1"/>
          </p:cNvSpPr>
          <p:nvPr/>
        </p:nvSpPr>
        <p:spPr>
          <a:xfrm>
            <a:off x="2381250" y="27432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Locate treatment centres, pharmacies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rehabilitation services by emirate.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Explore map layers and facility details.</a:t>
            </a:r>
          </a:p>
        </p:txBody>
      </p:sp>
      <p:sp>
        <p:nvSpPr>
          <p:cNvPr id="3006" name="feature-1-heading">
            <a:extLst>
              <a:ext uri="{FF2B5EF4-FFF2-40B4-BE49-F238E27FC236}">
                <a16:creationId xmlns:a16="http://schemas.microsoft.com/office/drawing/2014/main" id="{C0FB8E43-AC9F-47C0-A7FE-503FE6CE734D}"/>
              </a:ext>
            </a:extLst>
          </p:cNvPr>
          <p:cNvSpPr>
            <a:spLocks noGrp="1"/>
          </p:cNvSpPr>
          <p:nvPr/>
        </p:nvSpPr>
        <p:spPr>
          <a:xfrm>
            <a:off x="7905750" y="23241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Rehabilitation matching</a:t>
            </a:r>
          </a:p>
        </p:txBody>
      </p:sp>
      <p:sp>
        <p:nvSpPr>
          <p:cNvPr id="3007" name="feature-1-body">
            <a:extLst>
              <a:ext uri="{FF2B5EF4-FFF2-40B4-BE49-F238E27FC236}">
                <a16:creationId xmlns:a16="http://schemas.microsoft.com/office/drawing/2014/main" id="{9E6ED9BF-F6F4-4B3B-857F-D1BCEFF8BD10}"/>
              </a:ext>
            </a:extLst>
          </p:cNvPr>
          <p:cNvSpPr>
            <a:spLocks noGrp="1"/>
          </p:cNvSpPr>
          <p:nvPr/>
        </p:nvSpPr>
        <p:spPr>
          <a:xfrm>
            <a:off x="7905750" y="27432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Compare nearby centres by distance,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programme support and available slots.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Link the chosen service to the care plan.</a:t>
            </a:r>
          </a:p>
        </p:txBody>
      </p:sp>
      <p:sp>
        <p:nvSpPr>
          <p:cNvPr id="3008" name="feature-2-heading">
            <a:extLst>
              <a:ext uri="{FF2B5EF4-FFF2-40B4-BE49-F238E27FC236}">
                <a16:creationId xmlns:a16="http://schemas.microsoft.com/office/drawing/2014/main" id="{70DF675A-2756-40B0-A1CF-6AE5FF06B14F}"/>
              </a:ext>
            </a:extLst>
          </p:cNvPr>
          <p:cNvSpPr>
            <a:spLocks noGrp="1"/>
          </p:cNvSpPr>
          <p:nvPr/>
        </p:nvSpPr>
        <p:spPr>
          <a:xfrm>
            <a:off x="2381250" y="394335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Clinician management</a:t>
            </a:r>
          </a:p>
        </p:txBody>
      </p:sp>
      <p:sp>
        <p:nvSpPr>
          <p:cNvPr id="3009" name="feature-2-body">
            <a:extLst>
              <a:ext uri="{FF2B5EF4-FFF2-40B4-BE49-F238E27FC236}">
                <a16:creationId xmlns:a16="http://schemas.microsoft.com/office/drawing/2014/main" id="{34116389-25E4-415F-83FD-F632FFCEAC3E}"/>
              </a:ext>
            </a:extLst>
          </p:cNvPr>
          <p:cNvSpPr>
            <a:spLocks noGrp="1"/>
          </p:cNvSpPr>
          <p:nvPr/>
        </p:nvSpPr>
        <p:spPr>
          <a:xfrm>
            <a:off x="2381250" y="436245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Add and edit doctor profiles, licences,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specialties, contacts and qualifications.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Manage assignments and contract status.</a:t>
            </a:r>
          </a:p>
        </p:txBody>
      </p:sp>
      <p:sp>
        <p:nvSpPr>
          <p:cNvPr id="3010" name="feature-3-heading">
            <a:extLst>
              <a:ext uri="{FF2B5EF4-FFF2-40B4-BE49-F238E27FC236}">
                <a16:creationId xmlns:a16="http://schemas.microsoft.com/office/drawing/2014/main" id="{4EC74C62-ABF2-4892-94C4-A96EE895BE09}"/>
              </a:ext>
            </a:extLst>
          </p:cNvPr>
          <p:cNvSpPr>
            <a:spLocks noGrp="1"/>
          </p:cNvSpPr>
          <p:nvPr/>
        </p:nvSpPr>
        <p:spPr>
          <a:xfrm>
            <a:off x="7905750" y="394335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Centre administration</a:t>
            </a:r>
          </a:p>
        </p:txBody>
      </p:sp>
      <p:sp>
        <p:nvSpPr>
          <p:cNvPr id="3011" name="feature-3-body">
            <a:extLst>
              <a:ext uri="{FF2B5EF4-FFF2-40B4-BE49-F238E27FC236}">
                <a16:creationId xmlns:a16="http://schemas.microsoft.com/office/drawing/2014/main" id="{0AFDBED3-3F28-426E-8C2E-758695B57A85}"/>
              </a:ext>
            </a:extLst>
          </p:cNvPr>
          <p:cNvSpPr>
            <a:spLocks noGrp="1"/>
          </p:cNvSpPr>
          <p:nvPr/>
        </p:nvSpPr>
        <p:spPr>
          <a:xfrm>
            <a:off x="7905750" y="436245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Maintain manager and contact details,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services, location and contract dates.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Track active, pending or suspended status.</a:t>
            </a:r>
          </a:p>
        </p:txBody>
      </p:sp>
      <p:sp>
        <p:nvSpPr>
          <p:cNvPr id="3012" name="feature-4-heading">
            <a:extLst>
              <a:ext uri="{FF2B5EF4-FFF2-40B4-BE49-F238E27FC236}">
                <a16:creationId xmlns:a16="http://schemas.microsoft.com/office/drawing/2014/main" id="{6FC38B72-BE60-4A42-A36C-DF31E8867A4D}"/>
              </a:ext>
            </a:extLst>
          </p:cNvPr>
          <p:cNvSpPr>
            <a:spLocks noGrp="1"/>
          </p:cNvSpPr>
          <p:nvPr/>
        </p:nvSpPr>
        <p:spPr>
          <a:xfrm>
            <a:off x="2381250" y="55626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Batch receipts &amp; movements</a:t>
            </a:r>
          </a:p>
        </p:txBody>
      </p:sp>
      <p:sp>
        <p:nvSpPr>
          <p:cNvPr id="3013" name="feature-4-body">
            <a:extLst>
              <a:ext uri="{FF2B5EF4-FFF2-40B4-BE49-F238E27FC236}">
                <a16:creationId xmlns:a16="http://schemas.microsoft.com/office/drawing/2014/main" id="{3DD62854-C294-4F4A-8327-65C6314F5B30}"/>
              </a:ext>
            </a:extLst>
          </p:cNvPr>
          <p:cNvSpPr>
            <a:spLocks noGrp="1"/>
          </p:cNvSpPr>
          <p:nvPr/>
        </p:nvSpPr>
        <p:spPr>
          <a:xfrm>
            <a:off x="2381250" y="59817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Record quantities, source and expiry.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Trace stock receipts and dispensing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by batch, strength and centre.</a:t>
            </a:r>
          </a:p>
        </p:txBody>
      </p:sp>
      <p:sp>
        <p:nvSpPr>
          <p:cNvPr id="3014" name="feature-5-heading">
            <a:extLst>
              <a:ext uri="{FF2B5EF4-FFF2-40B4-BE49-F238E27FC236}">
                <a16:creationId xmlns:a16="http://schemas.microsoft.com/office/drawing/2014/main" id="{182C627E-FCA7-42C0-A130-0829857BEC98}"/>
              </a:ext>
            </a:extLst>
          </p:cNvPr>
          <p:cNvSpPr>
            <a:spLocks noGrp="1"/>
          </p:cNvSpPr>
          <p:nvPr/>
        </p:nvSpPr>
        <p:spPr>
          <a:xfrm>
            <a:off x="7905750" y="55626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Replenishment requests</a:t>
            </a:r>
          </a:p>
        </p:txBody>
      </p:sp>
      <p:sp>
        <p:nvSpPr>
          <p:cNvPr id="3015" name="feature-5-body">
            <a:extLst>
              <a:ext uri="{FF2B5EF4-FFF2-40B4-BE49-F238E27FC236}">
                <a16:creationId xmlns:a16="http://schemas.microsoft.com/office/drawing/2014/main" id="{54F5D50B-1704-40B6-94D0-38198B4925E8}"/>
              </a:ext>
            </a:extLst>
          </p:cNvPr>
          <p:cNvSpPr>
            <a:spLocks noGrp="1"/>
          </p:cNvSpPr>
          <p:nvPr/>
        </p:nvSpPr>
        <p:spPr>
          <a:xfrm>
            <a:off x="7905750" y="59817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Identify low-stock strengths and centres.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Create supply requests from the dashboard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prevent duplicate open requests.</a:t>
            </a:r>
          </a:p>
        </p:txBody>
      </p:sp>
      <p:sp>
        <p:nvSpPr>
          <p:cNvPr id="3016" name="rail-0-heading">
            <a:extLst>
              <a:ext uri="{FF2B5EF4-FFF2-40B4-BE49-F238E27FC236}">
                <a16:creationId xmlns:a16="http://schemas.microsoft.com/office/drawing/2014/main" id="{66E569CB-4C60-441E-BFE4-A95236384927}"/>
              </a:ext>
            </a:extLst>
          </p:cNvPr>
          <p:cNvSpPr>
            <a:spLocks noGrp="1"/>
          </p:cNvSpPr>
          <p:nvPr/>
        </p:nvSpPr>
        <p:spPr>
          <a:xfrm>
            <a:off x="13430250" y="468630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02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Availability &amp; planning</a:t>
            </a:r>
          </a:p>
        </p:txBody>
      </p:sp>
      <p:sp>
        <p:nvSpPr>
          <p:cNvPr id="3017" name="rail-0-body">
            <a:extLst>
              <a:ext uri="{FF2B5EF4-FFF2-40B4-BE49-F238E27FC236}">
                <a16:creationId xmlns:a16="http://schemas.microsoft.com/office/drawing/2014/main" id="{C2930A41-0BE5-49ED-860C-0F14BD76C5D3}"/>
              </a:ext>
            </a:extLst>
          </p:cNvPr>
          <p:cNvSpPr>
            <a:spLocks noGrp="1"/>
          </p:cNvSpPr>
          <p:nvPr/>
        </p:nvSpPr>
        <p:spPr>
          <a:xfrm>
            <a:off x="13430250" y="5076825"/>
            <a:ext cx="41910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Compare on-hand, reserved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available stock. Monitor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low, empty and expiring supplies.</a:t>
            </a:r>
          </a:p>
        </p:txBody>
      </p:sp>
      <p:sp>
        <p:nvSpPr>
          <p:cNvPr id="3018" name="rail-1-heading">
            <a:extLst>
              <a:ext uri="{FF2B5EF4-FFF2-40B4-BE49-F238E27FC236}">
                <a16:creationId xmlns:a16="http://schemas.microsoft.com/office/drawing/2014/main" id="{089BF763-0991-443D-A919-AB9FBDFF9F3B}"/>
              </a:ext>
            </a:extLst>
          </p:cNvPr>
          <p:cNvSpPr>
            <a:spLocks noGrp="1"/>
          </p:cNvSpPr>
          <p:nvPr/>
        </p:nvSpPr>
        <p:spPr>
          <a:xfrm>
            <a:off x="13430250" y="60769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02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Network supply vision</a:t>
            </a:r>
          </a:p>
        </p:txBody>
      </p:sp>
      <p:sp>
        <p:nvSpPr>
          <p:cNvPr id="3019" name="rail-1-body">
            <a:extLst>
              <a:ext uri="{FF2B5EF4-FFF2-40B4-BE49-F238E27FC236}">
                <a16:creationId xmlns:a16="http://schemas.microsoft.com/office/drawing/2014/main" id="{208C1DDD-A53C-40F8-AD3C-1D41F448DFDC}"/>
              </a:ext>
            </a:extLst>
          </p:cNvPr>
          <p:cNvSpPr>
            <a:spLocks noGrp="1"/>
          </p:cNvSpPr>
          <p:nvPr/>
        </p:nvSpPr>
        <p:spPr>
          <a:xfrm>
            <a:off x="13430250" y="6467475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Combine demand outlook,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batch visibility and transfers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across the care network.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1_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097500" cy="7620000"/>
          </a:xfrm>
          <a:prstGeom prst="rect">
            <a:avLst/>
          </a:prstGeom>
        </p:spPr>
      </p:pic>
      <p:sp>
        <p:nvSpPr>
          <p:cNvPr id="3" name="Rectangle 1"/>
          <p:cNvSpPr/>
          <p:nvPr/>
        </p:nvSpPr>
        <p:spPr>
          <a:xfrm>
            <a:off x="-176997" y="-104775"/>
            <a:ext cx="18451494" cy="7896226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pic>
        <p:nvPicPr>
          <p:cNvPr id="4" name="Layer 1" descr="s1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" y="142875"/>
            <a:ext cx="3219450" cy="1971675"/>
          </a:xfrm>
          <a:prstGeom prst="rect">
            <a:avLst/>
          </a:prstGeom>
        </p:spPr>
      </p:pic>
      <p:pic>
        <p:nvPicPr>
          <p:cNvPr id="5" name="Layer 3" descr="s1_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5695950"/>
            <a:ext cx="2171700" cy="1847850"/>
          </a:xfrm>
          <a:prstGeom prst="rect">
            <a:avLst/>
          </a:prstGeom>
        </p:spPr>
      </p:pic>
      <p:pic>
        <p:nvPicPr>
          <p:cNvPr id="11" name="Layer 5" descr="s1_l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63850" y="-104775"/>
            <a:ext cx="2533650" cy="2171700"/>
          </a:xfrm>
          <a:prstGeom prst="rect">
            <a:avLst/>
          </a:prstGeom>
        </p:spPr>
      </p:pic>
      <p:pic>
        <p:nvPicPr>
          <p:cNvPr id="13" name="Layer 6" descr="s1_l1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61925" y="-66675"/>
            <a:ext cx="2305050" cy="1447800"/>
          </a:xfrm>
          <a:prstGeom prst="rect">
            <a:avLst/>
          </a:prstGeom>
        </p:spPr>
      </p:pic>
      <p:pic>
        <p:nvPicPr>
          <p:cNvPr id="16" name="Layer 12" descr="s7_l1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33625" y="323850"/>
            <a:ext cx="1095375" cy="1060875"/>
          </a:xfrm>
          <a:prstGeom prst="rect">
            <a:avLst/>
          </a:prstGeom>
        </p:spPr>
      </p:pic>
      <p:grpSp>
        <p:nvGrpSpPr>
          <p:cNvPr id="21" name="Group 1"/>
          <p:cNvGrpSpPr/>
          <p:nvPr/>
        </p:nvGrpSpPr>
        <p:grpSpPr>
          <a:xfrm>
            <a:off x="13564362" y="1369314"/>
            <a:ext cx="4560570" cy="3044952"/>
            <a:chOff x="11801475" y="1504950"/>
            <a:chExt cx="6334125" cy="4229100"/>
          </a:xfrm>
        </p:grpSpPr>
        <p:pic>
          <p:nvPicPr>
            <p:cNvPr id="22" name="Layer 13" descr="s7_l20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1801475" y="1504950"/>
              <a:ext cx="6334125" cy="4229100"/>
            </a:xfrm>
            <a:prstGeom prst="rect">
              <a:avLst/>
            </a:prstGeom>
          </p:spPr>
        </p:pic>
        <p:pic>
          <p:nvPicPr>
            <p:cNvPr id="23" name="Layer 14" descr="s7_l21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5916275" y="4143375"/>
              <a:ext cx="1657350" cy="1438275"/>
            </a:xfrm>
            <a:prstGeom prst="rect">
              <a:avLst/>
            </a:prstGeom>
          </p:spPr>
        </p:pic>
      </p:grpSp>
      <p:sp>
        <p:nvSpPr>
          <p:cNvPr id="3002" name="section-title">
            <a:extLst>
              <a:ext uri="{FF2B5EF4-FFF2-40B4-BE49-F238E27FC236}">
                <a16:creationId xmlns:a16="http://schemas.microsoft.com/office/drawing/2014/main" id="{BC7A5FA0-B143-4F58-98AA-A2B2631F38EA}"/>
              </a:ext>
            </a:extLst>
          </p:cNvPr>
          <p:cNvSpPr>
            <a:spLocks noGrp="1"/>
          </p:cNvSpPr>
          <p:nvPr/>
        </p:nvSpPr>
        <p:spPr>
          <a:xfrm>
            <a:off x="3524250" y="447675"/>
            <a:ext cx="11906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825" b="1">
                <a:solidFill>
                  <a:srgbClr val="0D2947"/>
                </a:solidFill>
                <a:latin typeface="Dubai"/>
                <a:ea typeface="Dubai"/>
                <a:cs typeface="Dubai"/>
              </a:defRPr>
            </a:pPr>
            <a:r>
              <a:rPr sz="3825" b="1">
                <a:solidFill>
                  <a:srgbClr val="0D2947"/>
                </a:solidFill>
                <a:latin typeface="Dubai"/>
                <a:ea typeface="Dubai"/>
                <a:cs typeface="Dubai"/>
              </a:rPr>
              <a:t>6. Assistant, Chatbot &amp; Analytics</a:t>
            </a:r>
          </a:p>
        </p:txBody>
      </p:sp>
      <p:sp>
        <p:nvSpPr>
          <p:cNvPr id="3003" name="section-subtitle">
            <a:extLst>
              <a:ext uri="{FF2B5EF4-FFF2-40B4-BE49-F238E27FC236}">
                <a16:creationId xmlns:a16="http://schemas.microsoft.com/office/drawing/2014/main" id="{C6342EA4-5277-4E06-A3E1-77BFC3B364C2}"/>
              </a:ext>
            </a:extLst>
          </p:cNvPr>
          <p:cNvSpPr>
            <a:spLocks noGrp="1"/>
          </p:cNvSpPr>
          <p:nvPr/>
        </p:nvSpPr>
        <p:spPr>
          <a:xfrm>
            <a:off x="2381250" y="1419225"/>
            <a:ext cx="11287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1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Questions, source records and programme outlook in one workspace</a:t>
            </a:r>
          </a:p>
        </p:txBody>
      </p:sp>
      <p:sp>
        <p:nvSpPr>
          <p:cNvPr id="3004" name="feature-0-heading">
            <a:extLst>
              <a:ext uri="{FF2B5EF4-FFF2-40B4-BE49-F238E27FC236}">
                <a16:creationId xmlns:a16="http://schemas.microsoft.com/office/drawing/2014/main" id="{AAD544A9-9472-4512-A0F3-F193E8572638}"/>
              </a:ext>
            </a:extLst>
          </p:cNvPr>
          <p:cNvSpPr>
            <a:spLocks noGrp="1"/>
          </p:cNvSpPr>
          <p:nvPr/>
        </p:nvSpPr>
        <p:spPr>
          <a:xfrm>
            <a:off x="2381250" y="23241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Conversational record search</a:t>
            </a:r>
          </a:p>
        </p:txBody>
      </p:sp>
      <p:sp>
        <p:nvSpPr>
          <p:cNvPr id="3005" name="feature-0-body">
            <a:extLst>
              <a:ext uri="{FF2B5EF4-FFF2-40B4-BE49-F238E27FC236}">
                <a16:creationId xmlns:a16="http://schemas.microsoft.com/office/drawing/2014/main" id="{6DD116FE-EAAF-4BAD-B37B-08885552E5B6}"/>
              </a:ext>
            </a:extLst>
          </p:cNvPr>
          <p:cNvSpPr>
            <a:spLocks noGrp="1"/>
          </p:cNvSpPr>
          <p:nvPr/>
        </p:nvSpPr>
        <p:spPr>
          <a:xfrm>
            <a:off x="2381250" y="27432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Ask about a patient or request by name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or identifier, including laboratory results,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appointments and care plans.</a:t>
            </a:r>
          </a:p>
        </p:txBody>
      </p:sp>
      <p:sp>
        <p:nvSpPr>
          <p:cNvPr id="3006" name="feature-1-heading">
            <a:extLst>
              <a:ext uri="{FF2B5EF4-FFF2-40B4-BE49-F238E27FC236}">
                <a16:creationId xmlns:a16="http://schemas.microsoft.com/office/drawing/2014/main" id="{76C86E69-40AD-4A99-948F-368C3EE96004}"/>
              </a:ext>
            </a:extLst>
          </p:cNvPr>
          <p:cNvSpPr>
            <a:spLocks noGrp="1"/>
          </p:cNvSpPr>
          <p:nvPr/>
        </p:nvSpPr>
        <p:spPr>
          <a:xfrm>
            <a:off x="7905750" y="23241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Context across follow-up questions</a:t>
            </a:r>
          </a:p>
        </p:txBody>
      </p:sp>
      <p:sp>
        <p:nvSpPr>
          <p:cNvPr id="3007" name="feature-1-body">
            <a:extLst>
              <a:ext uri="{FF2B5EF4-FFF2-40B4-BE49-F238E27FC236}">
                <a16:creationId xmlns:a16="http://schemas.microsoft.com/office/drawing/2014/main" id="{D9666E55-A023-4AA6-A8A1-67EF90DB6E98}"/>
              </a:ext>
            </a:extLst>
          </p:cNvPr>
          <p:cNvSpPr>
            <a:spLocks noGrp="1"/>
          </p:cNvSpPr>
          <p:nvPr/>
        </p:nvSpPr>
        <p:spPr>
          <a:xfrm>
            <a:off x="7905750" y="27432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Keep the selected patient or request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through the conversation. Refine questions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without repeating the full context.</a:t>
            </a:r>
          </a:p>
        </p:txBody>
      </p:sp>
      <p:sp>
        <p:nvSpPr>
          <p:cNvPr id="3008" name="feature-2-heading">
            <a:extLst>
              <a:ext uri="{FF2B5EF4-FFF2-40B4-BE49-F238E27FC236}">
                <a16:creationId xmlns:a16="http://schemas.microsoft.com/office/drawing/2014/main" id="{E1BE5744-1C18-485C-A24C-AE2EBF8E146B}"/>
              </a:ext>
            </a:extLst>
          </p:cNvPr>
          <p:cNvSpPr>
            <a:spLocks noGrp="1"/>
          </p:cNvSpPr>
          <p:nvPr/>
        </p:nvSpPr>
        <p:spPr>
          <a:xfrm>
            <a:off x="2381250" y="394335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Answers with source links</a:t>
            </a:r>
          </a:p>
        </p:txBody>
      </p:sp>
      <p:sp>
        <p:nvSpPr>
          <p:cNvPr id="3009" name="feature-2-body">
            <a:extLst>
              <a:ext uri="{FF2B5EF4-FFF2-40B4-BE49-F238E27FC236}">
                <a16:creationId xmlns:a16="http://schemas.microsoft.com/office/drawing/2014/main" id="{4420B9A4-7002-4759-81FA-9B8248DD3DEA}"/>
              </a:ext>
            </a:extLst>
          </p:cNvPr>
          <p:cNvSpPr>
            <a:spLocks noGrp="1"/>
          </p:cNvSpPr>
          <p:nvPr/>
        </p:nvSpPr>
        <p:spPr>
          <a:xfrm>
            <a:off x="2381250" y="436245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Show facts from programme records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open the relevant patient, request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or care record for further review.</a:t>
            </a:r>
          </a:p>
        </p:txBody>
      </p:sp>
      <p:sp>
        <p:nvSpPr>
          <p:cNvPr id="3010" name="feature-3-heading">
            <a:extLst>
              <a:ext uri="{FF2B5EF4-FFF2-40B4-BE49-F238E27FC236}">
                <a16:creationId xmlns:a16="http://schemas.microsoft.com/office/drawing/2014/main" id="{2E41BD7E-66F2-45AC-97EC-C3C7E9828110}"/>
              </a:ext>
            </a:extLst>
          </p:cNvPr>
          <p:cNvSpPr>
            <a:spLocks noGrp="1"/>
          </p:cNvSpPr>
          <p:nvPr/>
        </p:nvSpPr>
        <p:spPr>
          <a:xfrm>
            <a:off x="7905750" y="394335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Clinical &amp; care insights</a:t>
            </a:r>
          </a:p>
        </p:txBody>
      </p:sp>
      <p:sp>
        <p:nvSpPr>
          <p:cNvPr id="3011" name="feature-3-body">
            <a:extLst>
              <a:ext uri="{FF2B5EF4-FFF2-40B4-BE49-F238E27FC236}">
                <a16:creationId xmlns:a16="http://schemas.microsoft.com/office/drawing/2014/main" id="{5035D693-3257-43EE-A065-F386CF5D62F5}"/>
              </a:ext>
            </a:extLst>
          </p:cNvPr>
          <p:cNvSpPr>
            <a:spLocks noGrp="1"/>
          </p:cNvSpPr>
          <p:nvPr/>
        </p:nvSpPr>
        <p:spPr>
          <a:xfrm>
            <a:off x="7905750" y="436245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Review treatment status, lab evidence,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recorded adherence and rehabilitation.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Connect trends to the patient history.</a:t>
            </a:r>
          </a:p>
        </p:txBody>
      </p:sp>
      <p:sp>
        <p:nvSpPr>
          <p:cNvPr id="3012" name="feature-4-heading">
            <a:extLst>
              <a:ext uri="{FF2B5EF4-FFF2-40B4-BE49-F238E27FC236}">
                <a16:creationId xmlns:a16="http://schemas.microsoft.com/office/drawing/2014/main" id="{10A9F2F4-BA72-48C1-A958-2697B4F43C66}"/>
              </a:ext>
            </a:extLst>
          </p:cNvPr>
          <p:cNvSpPr>
            <a:spLocks noGrp="1"/>
          </p:cNvSpPr>
          <p:nvPr/>
        </p:nvSpPr>
        <p:spPr>
          <a:xfrm>
            <a:off x="2381250" y="55626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Operational questions</a:t>
            </a:r>
          </a:p>
        </p:txBody>
      </p:sp>
      <p:sp>
        <p:nvSpPr>
          <p:cNvPr id="3013" name="feature-4-body">
            <a:extLst>
              <a:ext uri="{FF2B5EF4-FFF2-40B4-BE49-F238E27FC236}">
                <a16:creationId xmlns:a16="http://schemas.microsoft.com/office/drawing/2014/main" id="{7D05F5AA-F893-413F-9EC4-AB1E33D557B9}"/>
              </a:ext>
            </a:extLst>
          </p:cNvPr>
          <p:cNvSpPr>
            <a:spLocks noGrp="1"/>
          </p:cNvSpPr>
          <p:nvPr/>
        </p:nvSpPr>
        <p:spPr>
          <a:xfrm>
            <a:off x="2381250" y="59817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Explore dispensing, stock, open alerts,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programme counts and financial records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within the user’s permitted workspace.</a:t>
            </a:r>
          </a:p>
        </p:txBody>
      </p:sp>
      <p:sp>
        <p:nvSpPr>
          <p:cNvPr id="3014" name="feature-5-heading">
            <a:extLst>
              <a:ext uri="{FF2B5EF4-FFF2-40B4-BE49-F238E27FC236}">
                <a16:creationId xmlns:a16="http://schemas.microsoft.com/office/drawing/2014/main" id="{98587CDC-5B59-4120-BB3C-C1808C25DDB8}"/>
              </a:ext>
            </a:extLst>
          </p:cNvPr>
          <p:cNvSpPr>
            <a:spLocks noGrp="1"/>
          </p:cNvSpPr>
          <p:nvPr/>
        </p:nvSpPr>
        <p:spPr>
          <a:xfrm>
            <a:off x="7905750" y="55626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Data scope by role</a:t>
            </a:r>
          </a:p>
        </p:txBody>
      </p:sp>
      <p:sp>
        <p:nvSpPr>
          <p:cNvPr id="3015" name="feature-5-body">
            <a:extLst>
              <a:ext uri="{FF2B5EF4-FFF2-40B4-BE49-F238E27FC236}">
                <a16:creationId xmlns:a16="http://schemas.microsoft.com/office/drawing/2014/main" id="{28339BD9-17BB-4D1F-A490-F018789445E0}"/>
              </a:ext>
            </a:extLst>
          </p:cNvPr>
          <p:cNvSpPr>
            <a:spLocks noGrp="1"/>
          </p:cNvSpPr>
          <p:nvPr/>
        </p:nvSpPr>
        <p:spPr>
          <a:xfrm>
            <a:off x="7905750" y="59817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Use records available to the current role.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Keep source links inside that scope.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Support Arabic and English questions.</a:t>
            </a:r>
          </a:p>
        </p:txBody>
      </p:sp>
      <p:sp>
        <p:nvSpPr>
          <p:cNvPr id="3016" name="rail-0-heading">
            <a:extLst>
              <a:ext uri="{FF2B5EF4-FFF2-40B4-BE49-F238E27FC236}">
                <a16:creationId xmlns:a16="http://schemas.microsoft.com/office/drawing/2014/main" id="{190C7427-C02B-43D1-AA72-A78FFDE571CD}"/>
              </a:ext>
            </a:extLst>
          </p:cNvPr>
          <p:cNvSpPr>
            <a:spLocks noGrp="1"/>
          </p:cNvSpPr>
          <p:nvPr/>
        </p:nvSpPr>
        <p:spPr>
          <a:xfrm>
            <a:off x="13430250" y="468630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02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Patient outlook</a:t>
            </a:r>
          </a:p>
        </p:txBody>
      </p:sp>
      <p:sp>
        <p:nvSpPr>
          <p:cNvPr id="3017" name="rail-0-body">
            <a:extLst>
              <a:ext uri="{FF2B5EF4-FFF2-40B4-BE49-F238E27FC236}">
                <a16:creationId xmlns:a16="http://schemas.microsoft.com/office/drawing/2014/main" id="{492F72E1-34D7-4A60-843B-EAB0E8ABE694}"/>
              </a:ext>
            </a:extLst>
          </p:cNvPr>
          <p:cNvSpPr>
            <a:spLocks noGrp="1"/>
          </p:cNvSpPr>
          <p:nvPr/>
        </p:nvSpPr>
        <p:spPr>
          <a:xfrm>
            <a:off x="13430250" y="5076825"/>
            <a:ext cx="41910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Obesity and weight-change outlook.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Expected treatment completions.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Patients needing earlier follow-up.</a:t>
            </a:r>
          </a:p>
        </p:txBody>
      </p:sp>
      <p:sp>
        <p:nvSpPr>
          <p:cNvPr id="3018" name="rail-1-heading">
            <a:extLst>
              <a:ext uri="{FF2B5EF4-FFF2-40B4-BE49-F238E27FC236}">
                <a16:creationId xmlns:a16="http://schemas.microsoft.com/office/drawing/2014/main" id="{A611B672-535B-4A61-978E-B80E7DC15A63}"/>
              </a:ext>
            </a:extLst>
          </p:cNvPr>
          <p:cNvSpPr>
            <a:spLocks noGrp="1"/>
          </p:cNvSpPr>
          <p:nvPr/>
        </p:nvSpPr>
        <p:spPr>
          <a:xfrm>
            <a:off x="13430250" y="6076950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02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Programme outlook</a:t>
            </a:r>
          </a:p>
        </p:txBody>
      </p:sp>
      <p:sp>
        <p:nvSpPr>
          <p:cNvPr id="3019" name="rail-1-body">
            <a:extLst>
              <a:ext uri="{FF2B5EF4-FFF2-40B4-BE49-F238E27FC236}">
                <a16:creationId xmlns:a16="http://schemas.microsoft.com/office/drawing/2014/main" id="{71AD412F-D696-47F6-82C0-D91D6C11E9D0}"/>
              </a:ext>
            </a:extLst>
          </p:cNvPr>
          <p:cNvSpPr>
            <a:spLocks noGrp="1"/>
          </p:cNvSpPr>
          <p:nvPr/>
        </p:nvSpPr>
        <p:spPr>
          <a:xfrm>
            <a:off x="13430250" y="6467475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Expected enrolment and dispensing,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upcoming visits and stock shortfalls</a:t>
            </a:r>
          </a:p>
          <a:p>
            <a:pPr>
              <a:def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38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for the selected planning horizon.</a:t>
            </a:r>
          </a:p>
        </p:txBody>
      </p:sp>
      <p:sp>
        <p:nvSpPr>
          <p:cNvPr id="3020" name="footer">
            <a:extLst>
              <a:ext uri="{FF2B5EF4-FFF2-40B4-BE49-F238E27FC236}">
                <a16:creationId xmlns:a16="http://schemas.microsoft.com/office/drawing/2014/main" id="{68C6C044-7EEC-461F-B1DA-2C1A036AB6D8}"/>
              </a:ext>
            </a:extLst>
          </p:cNvPr>
          <p:cNvSpPr>
            <a:spLocks noGrp="1"/>
          </p:cNvSpPr>
          <p:nvPr/>
        </p:nvSpPr>
        <p:spPr>
          <a:xfrm>
            <a:off x="2381250" y="7258050"/>
            <a:ext cx="14954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388" b="0">
                <a:solidFill>
                  <a:srgbClr val="526572"/>
                </a:solidFill>
                <a:latin typeface="Dubai Medium"/>
                <a:ea typeface="Dubai Medium"/>
                <a:cs typeface="Dubai Medium"/>
              </a:defRPr>
            </a:pPr>
            <a:r>
              <a:rPr sz="1388" b="0">
                <a:solidFill>
                  <a:srgbClr val="526572"/>
                </a:solidFill>
                <a:latin typeface="Dubai Medium"/>
                <a:ea typeface="Dubai Medium"/>
                <a:cs typeface="Dubai Medium"/>
              </a:rPr>
              <a:t>Patient and programme outlooks use the selected planning horizon and available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s1_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097500" cy="7620000"/>
          </a:xfrm>
          <a:prstGeom prst="rect">
            <a:avLst/>
          </a:prstGeom>
        </p:spPr>
      </p:pic>
      <p:sp>
        <p:nvSpPr>
          <p:cNvPr id="3" name="Rectangle 1"/>
          <p:cNvSpPr/>
          <p:nvPr/>
        </p:nvSpPr>
        <p:spPr>
          <a:xfrm>
            <a:off x="-176997" y="-104775"/>
            <a:ext cx="18451494" cy="7896226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pic>
        <p:nvPicPr>
          <p:cNvPr id="4" name="Layer 1" descr="s1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" y="142875"/>
            <a:ext cx="3219450" cy="1971675"/>
          </a:xfrm>
          <a:prstGeom prst="rect">
            <a:avLst/>
          </a:prstGeom>
        </p:spPr>
      </p:pic>
      <p:pic>
        <p:nvPicPr>
          <p:cNvPr id="5" name="Layer 3" descr="s1_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5695950"/>
            <a:ext cx="2171700" cy="1847850"/>
          </a:xfrm>
          <a:prstGeom prst="rect">
            <a:avLst/>
          </a:prstGeom>
        </p:spPr>
      </p:pic>
      <p:pic>
        <p:nvPicPr>
          <p:cNvPr id="11" name="Layer 5" descr="s1_l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63850" y="-104775"/>
            <a:ext cx="2533650" cy="2171700"/>
          </a:xfrm>
          <a:prstGeom prst="rect">
            <a:avLst/>
          </a:prstGeom>
        </p:spPr>
      </p:pic>
      <p:pic>
        <p:nvPicPr>
          <p:cNvPr id="13" name="Layer 6" descr="s1_l1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61925" y="-66675"/>
            <a:ext cx="2305050" cy="1447800"/>
          </a:xfrm>
          <a:prstGeom prst="rect">
            <a:avLst/>
          </a:prstGeom>
        </p:spPr>
      </p:pic>
      <p:pic>
        <p:nvPicPr>
          <p:cNvPr id="210" name=""/>
          <p:cNvPicPr>
            <a:picLocks noChangeAspect="1"/>
          </p:cNvPicPr>
          <p:nvPr/>
        </p:nvPicPr>
        <p:blipFill>
          <a:blip r:embed="rIdMobileOnly0"/>
          <a:stretch/>
        </p:blipFill>
        <p:spPr>
          <a:xfrm>
            <a:off x="13925550" y="1609725"/>
            <a:ext cx="2667000" cy="3333750"/>
          </a:xfrm>
          <a:prstGeom prst="rect">
            <a:avLst/>
          </a:prstGeom>
        </p:spPr>
      </p:pic>
      <p:pic>
        <p:nvPicPr>
          <p:cNvPr id="211" name=""/>
          <p:cNvPicPr>
            <a:picLocks noChangeAspect="1"/>
          </p:cNvPicPr>
          <p:nvPr/>
        </p:nvPicPr>
        <p:blipFill>
          <a:blip r:embed="rIdMobileOnly1"/>
          <a:stretch/>
        </p:blipFill>
        <p:spPr>
          <a:xfrm>
            <a:off x="2333625" y="323850"/>
            <a:ext cx="1095375" cy="1060984"/>
          </a:xfrm>
          <a:prstGeom prst="rect">
            <a:avLst/>
          </a:prstGeom>
        </p:spPr>
      </p:pic>
      <p:sp>
        <p:nvSpPr>
          <p:cNvPr id="3002" name="section-title">
            <a:extLst>
              <a:ext uri="{FF2B5EF4-FFF2-40B4-BE49-F238E27FC236}">
                <a16:creationId xmlns:a16="http://schemas.microsoft.com/office/drawing/2014/main" id="{70E388F2-830C-4034-8D0A-8B53561E0864}"/>
              </a:ext>
            </a:extLst>
          </p:cNvPr>
          <p:cNvSpPr>
            <a:spLocks noGrp="1"/>
          </p:cNvSpPr>
          <p:nvPr/>
        </p:nvSpPr>
        <p:spPr>
          <a:xfrm>
            <a:off x="3524250" y="447675"/>
            <a:ext cx="11906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3825" b="1">
                <a:solidFill>
                  <a:srgbClr val="0D2947"/>
                </a:solidFill>
                <a:latin typeface="Dubai"/>
                <a:ea typeface="Dubai"/>
                <a:cs typeface="Dubai"/>
              </a:defRPr>
            </a:pPr>
            <a:r>
              <a:rPr sz="3825" b="1">
                <a:solidFill>
                  <a:srgbClr val="0D2947"/>
                </a:solidFill>
                <a:latin typeface="Dubai"/>
                <a:ea typeface="Dubai"/>
                <a:cs typeface="Dubai"/>
              </a:rPr>
              <a:t>7. Mobile App</a:t>
            </a:r>
          </a:p>
        </p:txBody>
      </p:sp>
      <p:sp>
        <p:nvSpPr>
          <p:cNvPr id="3003" name="section-subtitle">
            <a:extLst>
              <a:ext uri="{FF2B5EF4-FFF2-40B4-BE49-F238E27FC236}">
                <a16:creationId xmlns:a16="http://schemas.microsoft.com/office/drawing/2014/main" id="{9B5DF68A-8F9C-47B5-8981-28D13F15D771}"/>
              </a:ext>
            </a:extLst>
          </p:cNvPr>
          <p:cNvSpPr>
            <a:spLocks noGrp="1"/>
          </p:cNvSpPr>
          <p:nvPr/>
        </p:nvSpPr>
        <p:spPr>
          <a:xfrm>
            <a:off x="2381250" y="1419225"/>
            <a:ext cx="1128712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17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Daily care and programme work through a shared mobile experience</a:t>
            </a:r>
          </a:p>
        </p:txBody>
      </p:sp>
      <p:sp>
        <p:nvSpPr>
          <p:cNvPr id="3004" name="feature-0-heading">
            <a:extLst>
              <a:ext uri="{FF2B5EF4-FFF2-40B4-BE49-F238E27FC236}">
                <a16:creationId xmlns:a16="http://schemas.microsoft.com/office/drawing/2014/main" id="{3D90BC89-5888-47A6-837D-38BF8AA8AE0E}"/>
              </a:ext>
            </a:extLst>
          </p:cNvPr>
          <p:cNvSpPr>
            <a:spLocks noGrp="1"/>
          </p:cNvSpPr>
          <p:nvPr/>
        </p:nvSpPr>
        <p:spPr>
          <a:xfrm>
            <a:off x="2381250" y="23241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Medication &amp; injections</a:t>
            </a:r>
          </a:p>
        </p:txBody>
      </p:sp>
      <p:sp>
        <p:nvSpPr>
          <p:cNvPr id="3005" name="feature-0-body">
            <a:extLst>
              <a:ext uri="{FF2B5EF4-FFF2-40B4-BE49-F238E27FC236}">
                <a16:creationId xmlns:a16="http://schemas.microsoft.com/office/drawing/2014/main" id="{362A1F05-F032-48E8-A352-F9D5859A783E}"/>
              </a:ext>
            </a:extLst>
          </p:cNvPr>
          <p:cNvSpPr>
            <a:spLocks noGrp="1"/>
          </p:cNvSpPr>
          <p:nvPr/>
        </p:nvSpPr>
        <p:spPr>
          <a:xfrm>
            <a:off x="2381250" y="27432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View the prescribed medicine, strength,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schedule and instructions. Receive dose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reminders and record medication taken.</a:t>
            </a:r>
          </a:p>
        </p:txBody>
      </p:sp>
      <p:sp>
        <p:nvSpPr>
          <p:cNvPr id="3006" name="feature-1-heading">
            <a:extLst>
              <a:ext uri="{FF2B5EF4-FFF2-40B4-BE49-F238E27FC236}">
                <a16:creationId xmlns:a16="http://schemas.microsoft.com/office/drawing/2014/main" id="{EA51964E-6FA4-4908-A889-B5D746B57A97}"/>
              </a:ext>
            </a:extLst>
          </p:cNvPr>
          <p:cNvSpPr>
            <a:spLocks noGrp="1"/>
          </p:cNvSpPr>
          <p:nvPr/>
        </p:nvSpPr>
        <p:spPr>
          <a:xfrm>
            <a:off x="7905750" y="23241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Nutrition &amp; daily routine</a:t>
            </a:r>
          </a:p>
        </p:txBody>
      </p:sp>
      <p:sp>
        <p:nvSpPr>
          <p:cNvPr id="3007" name="feature-1-body">
            <a:extLst>
              <a:ext uri="{FF2B5EF4-FFF2-40B4-BE49-F238E27FC236}">
                <a16:creationId xmlns:a16="http://schemas.microsoft.com/office/drawing/2014/main" id="{A453E11B-ADF6-40B5-98DE-11877705E638}"/>
              </a:ext>
            </a:extLst>
          </p:cNvPr>
          <p:cNvSpPr>
            <a:spLocks noGrp="1"/>
          </p:cNvSpPr>
          <p:nvPr/>
        </p:nvSpPr>
        <p:spPr>
          <a:xfrm>
            <a:off x="7905750" y="27432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Follow nutrition guidance and meal plans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alongside prescribed exercise routines.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Keep daily care linked to treatment goals.</a:t>
            </a:r>
          </a:p>
        </p:txBody>
      </p:sp>
      <p:sp>
        <p:nvSpPr>
          <p:cNvPr id="3008" name="feature-2-heading">
            <a:extLst>
              <a:ext uri="{FF2B5EF4-FFF2-40B4-BE49-F238E27FC236}">
                <a16:creationId xmlns:a16="http://schemas.microsoft.com/office/drawing/2014/main" id="{E0F0D448-DB61-4684-8117-3A7BA291A9A8}"/>
              </a:ext>
            </a:extLst>
          </p:cNvPr>
          <p:cNvSpPr>
            <a:spLocks noGrp="1"/>
          </p:cNvSpPr>
          <p:nvPr/>
        </p:nvSpPr>
        <p:spPr>
          <a:xfrm>
            <a:off x="2381250" y="394335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Physiotherapy &amp; home exercise</a:t>
            </a:r>
          </a:p>
        </p:txBody>
      </p:sp>
      <p:sp>
        <p:nvSpPr>
          <p:cNvPr id="3009" name="feature-2-body">
            <a:extLst>
              <a:ext uri="{FF2B5EF4-FFF2-40B4-BE49-F238E27FC236}">
                <a16:creationId xmlns:a16="http://schemas.microsoft.com/office/drawing/2014/main" id="{523B1FB3-2136-420C-9136-5B8AFB5AB93B}"/>
              </a:ext>
            </a:extLst>
          </p:cNvPr>
          <p:cNvSpPr>
            <a:spLocks noGrp="1"/>
          </p:cNvSpPr>
          <p:nvPr/>
        </p:nvSpPr>
        <p:spPr>
          <a:xfrm>
            <a:off x="2381250" y="436245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Access lessons and exercise instructions.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Follow planned rehabilitation sessions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record activity, duration and progress.</a:t>
            </a:r>
          </a:p>
        </p:txBody>
      </p:sp>
      <p:sp>
        <p:nvSpPr>
          <p:cNvPr id="3010" name="feature-3-heading">
            <a:extLst>
              <a:ext uri="{FF2B5EF4-FFF2-40B4-BE49-F238E27FC236}">
                <a16:creationId xmlns:a16="http://schemas.microsoft.com/office/drawing/2014/main" id="{50696D70-D8A3-4741-A176-F2AA54D5A68E}"/>
              </a:ext>
            </a:extLst>
          </p:cNvPr>
          <p:cNvSpPr>
            <a:spLocks noGrp="1"/>
          </p:cNvSpPr>
          <p:nvPr/>
        </p:nvSpPr>
        <p:spPr>
          <a:xfrm>
            <a:off x="7905750" y="394335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Health records &amp; patient statistics</a:t>
            </a:r>
          </a:p>
        </p:txBody>
      </p:sp>
      <p:sp>
        <p:nvSpPr>
          <p:cNvPr id="3011" name="feature-3-body">
            <a:extLst>
              <a:ext uri="{FF2B5EF4-FFF2-40B4-BE49-F238E27FC236}">
                <a16:creationId xmlns:a16="http://schemas.microsoft.com/office/drawing/2014/main" id="{9D5FBD4D-14CC-4196-B208-B50451D5512D}"/>
              </a:ext>
            </a:extLst>
          </p:cNvPr>
          <p:cNvSpPr>
            <a:spLocks noGrp="1"/>
          </p:cNvSpPr>
          <p:nvPr/>
        </p:nvSpPr>
        <p:spPr>
          <a:xfrm>
            <a:off x="7905750" y="436245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Review medical history, laboratory results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documents. Follow weight, BMI,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adherence and treatment progress.</a:t>
            </a:r>
          </a:p>
        </p:txBody>
      </p:sp>
      <p:sp>
        <p:nvSpPr>
          <p:cNvPr id="3012" name="feature-4-heading">
            <a:extLst>
              <a:ext uri="{FF2B5EF4-FFF2-40B4-BE49-F238E27FC236}">
                <a16:creationId xmlns:a16="http://schemas.microsoft.com/office/drawing/2014/main" id="{2982D417-FF08-4988-A5B0-1A9C815DE36C}"/>
              </a:ext>
            </a:extLst>
          </p:cNvPr>
          <p:cNvSpPr>
            <a:spLocks noGrp="1"/>
          </p:cNvSpPr>
          <p:nvPr/>
        </p:nvSpPr>
        <p:spPr>
          <a:xfrm>
            <a:off x="2381250" y="55626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Appointments &amp; care updates</a:t>
            </a:r>
          </a:p>
        </p:txBody>
      </p:sp>
      <p:sp>
        <p:nvSpPr>
          <p:cNvPr id="3013" name="feature-4-body">
            <a:extLst>
              <a:ext uri="{FF2B5EF4-FFF2-40B4-BE49-F238E27FC236}">
                <a16:creationId xmlns:a16="http://schemas.microsoft.com/office/drawing/2014/main" id="{6255E389-BA18-4198-9CF3-4BDA44D51C9E}"/>
              </a:ext>
            </a:extLst>
          </p:cNvPr>
          <p:cNvSpPr>
            <a:spLocks noGrp="1"/>
          </p:cNvSpPr>
          <p:nvPr/>
        </p:nvSpPr>
        <p:spPr>
          <a:xfrm>
            <a:off x="2381250" y="59817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View visits and follow-up dates.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Receive treatment and dispensing updates.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Open linked requests and receipts.</a:t>
            </a:r>
          </a:p>
        </p:txBody>
      </p:sp>
      <p:sp>
        <p:nvSpPr>
          <p:cNvPr id="3014" name="feature-5-heading">
            <a:extLst>
              <a:ext uri="{FF2B5EF4-FFF2-40B4-BE49-F238E27FC236}">
                <a16:creationId xmlns:a16="http://schemas.microsoft.com/office/drawing/2014/main" id="{D7B39B61-63AE-4CF1-84CC-89636F592E6B}"/>
              </a:ext>
            </a:extLst>
          </p:cNvPr>
          <p:cNvSpPr>
            <a:spLocks noGrp="1"/>
          </p:cNvSpPr>
          <p:nvPr/>
        </p:nvSpPr>
        <p:spPr>
          <a:xfrm>
            <a:off x="7905750" y="5562600"/>
            <a:ext cx="5191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17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17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In-app assistant</a:t>
            </a:r>
          </a:p>
        </p:txBody>
      </p:sp>
      <p:sp>
        <p:nvSpPr>
          <p:cNvPr id="3015" name="feature-5-body">
            <a:extLst>
              <a:ext uri="{FF2B5EF4-FFF2-40B4-BE49-F238E27FC236}">
                <a16:creationId xmlns:a16="http://schemas.microsoft.com/office/drawing/2014/main" id="{FA8EBC81-FD53-420B-A3BD-86176D765E6A}"/>
              </a:ext>
            </a:extLst>
          </p:cNvPr>
          <p:cNvSpPr>
            <a:spLocks noGrp="1"/>
          </p:cNvSpPr>
          <p:nvPr/>
        </p:nvSpPr>
        <p:spPr>
          <a:xfrm>
            <a:off x="7905750" y="5981700"/>
            <a:ext cx="519112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Ask about permitted care records,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continue questions in the same context</a:t>
            </a:r>
          </a:p>
          <a:p>
            <a:pPr>
              <a:def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2025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and open the supporting sources.</a:t>
            </a:r>
          </a:p>
        </p:txBody>
      </p:sp>
      <p:sp>
        <p:nvSpPr>
          <p:cNvPr id="3016" name="rail-0-heading">
            <a:extLst>
              <a:ext uri="{FF2B5EF4-FFF2-40B4-BE49-F238E27FC236}">
                <a16:creationId xmlns:a16="http://schemas.microsoft.com/office/drawing/2014/main" id="{4C0F7B4D-647D-43DC-9B1D-08D05F8007AA}"/>
              </a:ext>
            </a:extLst>
          </p:cNvPr>
          <p:cNvSpPr>
            <a:spLocks noGrp="1"/>
          </p:cNvSpPr>
          <p:nvPr/>
        </p:nvSpPr>
        <p:spPr>
          <a:xfrm>
            <a:off x="13430250" y="5114925"/>
            <a:ext cx="409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2025" b="1">
                <a:solidFill>
                  <a:srgbClr val="86672F"/>
                </a:solidFill>
                <a:latin typeface="Dubai"/>
                <a:ea typeface="Dubai"/>
                <a:cs typeface="Dubai"/>
              </a:defRPr>
            </a:pPr>
            <a:r>
              <a:rPr sz="2025" b="1">
                <a:solidFill>
                  <a:srgbClr val="86672F"/>
                </a:solidFill>
                <a:latin typeface="Dubai"/>
                <a:ea typeface="Dubai"/>
                <a:cs typeface="Dubai"/>
              </a:rPr>
              <a:t>Four mobile workspaces</a:t>
            </a:r>
          </a:p>
        </p:txBody>
      </p:sp>
      <p:sp>
        <p:nvSpPr>
          <p:cNvPr id="3017" name="rail-0-body">
            <a:extLst>
              <a:ext uri="{FF2B5EF4-FFF2-40B4-BE49-F238E27FC236}">
                <a16:creationId xmlns:a16="http://schemas.microsoft.com/office/drawing/2014/main" id="{64D481AB-D112-441E-ABE4-099DFF694C6A}"/>
              </a:ext>
            </a:extLst>
          </p:cNvPr>
          <p:cNvSpPr>
            <a:spLocks noGrp="1"/>
          </p:cNvSpPr>
          <p:nvPr/>
        </p:nvSpPr>
        <p:spPr>
          <a:xfrm>
            <a:off x="13430250" y="5505450"/>
            <a:ext cx="419100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8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Patient: daily care and progress</a:t>
            </a:r>
          </a:p>
          <a:p>
            <a:pPr>
              <a:defRPr sz="18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Doctor: patients and care plans</a:t>
            </a:r>
          </a:p>
          <a:p>
            <a:pPr>
              <a:defRPr sz="18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Pharmacy: dispensing and inventory</a:t>
            </a:r>
          </a:p>
          <a:p>
            <a:pPr>
              <a:defRPr sz="18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defRPr>
            </a:pPr>
            <a:r>
              <a:rPr sz="1800" b="0">
                <a:solidFill>
                  <a:srgbClr val="0D2947"/>
                </a:solidFill>
                <a:latin typeface="Dubai Medium"/>
                <a:ea typeface="Dubai Medium"/>
                <a:cs typeface="Dubai Medium"/>
              </a:rPr>
              <a:t>Admin: oversight and reports</a:t>
            </a:r>
          </a:p>
        </p:txBody>
      </p:sp>
      <p:sp>
        <p:nvSpPr>
          <p:cNvPr id="3018" name="footer">
            <a:extLst>
              <a:ext uri="{FF2B5EF4-FFF2-40B4-BE49-F238E27FC236}">
                <a16:creationId xmlns:a16="http://schemas.microsoft.com/office/drawing/2014/main" id="{27AA1257-D9B2-4C40-831A-05B24D7B45EA}"/>
              </a:ext>
            </a:extLst>
          </p:cNvPr>
          <p:cNvSpPr>
            <a:spLocks noGrp="1"/>
          </p:cNvSpPr>
          <p:nvPr/>
        </p:nvSpPr>
        <p:spPr>
          <a:xfrm>
            <a:off x="2381250" y="7258050"/>
            <a:ext cx="14954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defRPr sz="1388" b="0">
                <a:solidFill>
                  <a:srgbClr val="526572"/>
                </a:solidFill>
                <a:latin typeface="Dubai Medium"/>
                <a:ea typeface="Dubai Medium"/>
                <a:cs typeface="Dubai Medium"/>
              </a:defRPr>
            </a:pPr>
            <a:r>
              <a:rPr sz="1388" b="0">
                <a:solidFill>
                  <a:srgbClr val="526572"/>
                </a:solidFill>
                <a:latin typeface="Dubai Medium"/>
                <a:ea typeface="Dubai Medium"/>
                <a:cs typeface="Dubai Medium"/>
              </a:rPr>
              <a:t>Mobile expansion vision with shared records, healthcare branding and a consistent experience across portals.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838</Words>
  <Application>Microsoft Macintosh PowerPoint</Application>
  <PresentationFormat>Custom</PresentationFormat>
  <Paragraphs>182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Dubai</vt:lpstr>
      <vt:lpstr>Dubai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Aya El-Sayed</cp:lastModifiedBy>
  <cp:revision>2</cp:revision>
  <dcterms:created xsi:type="dcterms:W3CDTF">2013-01-27T09:14:16Z</dcterms:created>
  <dcterms:modified xsi:type="dcterms:W3CDTF">2026-10-05T22:32:47Z</dcterms:modified>
  <cp:category/>
</cp:coreProperties>
</file>